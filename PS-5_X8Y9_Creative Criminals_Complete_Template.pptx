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 Semibold"/>
              </a:defRPr>
            </a:pPr>
            <a:r>
              <a:t>🏛️ ATMIYA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645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KIT   |   A D S 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ATMIYA DEVELOPER STUDENTS CLUB PRESENTS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Segoe UI Semibold"/>
              </a:defRPr>
            </a:pPr>
            <a:r>
              <a:t>CODE CARNIVAL 3.0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1717A"/>
                </a:solidFill>
                <a:latin typeface="Segoe UI"/>
              </a:defRPr>
            </a:pPr>
            <a:r>
              <a:t>Idea Submission Template  •  The Heist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3383280" cy="128016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Segoe UI Semibold"/>
              </a:defRPr>
            </a:pPr>
            <a:r>
              <a:t>TEAM NAME</a:t>
            </a:r>
          </a:p>
          <a:p>
            <a:pPr>
              <a:defRPr sz="1500" b="1">
                <a:solidFill>
                  <a:srgbClr val="FFFFFF"/>
                </a:solidFill>
                <a:latin typeface="Segoe UI Semibold"/>
              </a:defRPr>
            </a:pPr>
            <a:r>
              <a:t>Creative Criminals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108960"/>
            <a:ext cx="3383280" cy="128016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Segoe UI Semibold"/>
              </a:defRPr>
            </a:pPr>
            <a:r>
              <a:t>TEAM ID</a:t>
            </a:r>
          </a:p>
          <a:p>
            <a:pPr>
              <a:defRPr sz="1500" b="1">
                <a:solidFill>
                  <a:srgbClr val="FFFFFF"/>
                </a:solidFill>
                <a:latin typeface="Segoe UI Semibold"/>
              </a:defRPr>
            </a:pPr>
            <a:r>
              <a:t>X8Y9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108960"/>
            <a:ext cx="3383280" cy="128016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Segoe UI Semibold"/>
              </a:defRPr>
            </a:pPr>
            <a:r>
              <a:t>TEAM LEADER</a:t>
            </a:r>
          </a:p>
          <a:p>
            <a:pPr>
              <a:defRPr sz="1500" b="1">
                <a:solidFill>
                  <a:srgbClr val="FFFFFF"/>
                </a:solidFill>
                <a:latin typeface="Segoe UI Semibold"/>
              </a:defRPr>
            </a:pPr>
            <a:r>
              <a:t>Hirva Chaniyara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7040880" cy="13716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Segoe UI Semibold"/>
              </a:defRPr>
            </a:pPr>
            <a:r>
              <a:t>PROBLEM STATEMENT TITLE</a:t>
            </a:r>
          </a:p>
          <a:p>
            <a:pPr>
              <a:defRPr sz="1500" b="1">
                <a:solidFill>
                  <a:srgbClr val="FFFFFF"/>
                </a:solidFill>
                <a:latin typeface="Segoe UI Semibold"/>
              </a:defRPr>
            </a:pPr>
            <a:r>
              <a:t>PS-05: On-device threat, phishing and scam 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572000"/>
            <a:ext cx="3383280" cy="13716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Segoe UI Semibold"/>
              </a:defRPr>
            </a:pPr>
            <a:r>
              <a:t>THEME / TRACK</a:t>
            </a:r>
          </a:p>
          <a:p>
            <a:pPr>
              <a:defRPr sz="1400" b="1">
                <a:solidFill>
                  <a:srgbClr val="FFFFFF"/>
                </a:solidFill>
                <a:latin typeface="Segoe UI Semibold"/>
              </a:defRPr>
            </a:pPr>
            <a:r>
              <a:t>Mobile Cybersecurity &amp; On-Device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1A1AA"/>
                </a:solidFill>
                <a:latin typeface="Segoe UI"/>
              </a:defRPr>
            </a:pPr>
            <a:r>
              <a:t>Code Carnival 3.0 • ADSC, Atmiya University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C2626"/>
                </a:solidFill>
                <a:latin typeface="Segoe UI Semibold"/>
              </a:defRPr>
            </a:pPr>
            <a:r>
              <a:t>CREATIVE CRIMINALS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 Semibold"/>
              </a:defRPr>
            </a:pPr>
            <a:r>
              <a:t>🏛️ ATMIYA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KIT   |   A D S 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A"/>
                </a:solidFill>
                <a:latin typeface="Segoe UI"/>
              </a:defRPr>
            </a:pPr>
            <a:r>
              <a:t>Code Carnival 3.0 • ADSC, Atmiya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INSTRUCTIONS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READ FIRST • THE PROFESSOR'S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181B"/>
                </a:solidFill>
                <a:latin typeface="Segoe UI Semibold"/>
              </a:defRPr>
            </a:pPr>
            <a:r>
              <a:t>FORMATTING INSTRUCTIONS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74519"/>
            <a:ext cx="52120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01  Keep the structure. Do not reorder, rename, add or remove slides. One slide per section.</a:t>
            </a:r>
          </a:p>
          <a:p>
            <a:pPr>
              <a:spcAft>
                <a:spcPts val="12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02  Leave the branding alone. Do not move, resize or delete the logos, header, footer, fonts or colours.</a:t>
            </a:r>
          </a:p>
          <a:p>
            <a:pPr>
              <a:spcAft>
                <a:spcPts val="12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03  Replace every [bracket]. Delete all hint lines and placeholder boxes you do not use.</a:t>
            </a:r>
          </a:p>
          <a:p>
            <a:pPr>
              <a:spcAft>
                <a:spcPts val="12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04  Bullets, not paragraphs. Maximum 6 bullets per slide, body text 18 pt or larger.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2120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05  Show, don't tell. Use diagrams, flowcharts and screenshots. Every visual must be readable and labelled.</a:t>
            </a:r>
          </a:p>
          <a:p>
            <a:pPr>
              <a:spcAft>
                <a:spcPts val="12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06  Original work only. Credit any external image, dataset or library you use.</a:t>
            </a:r>
          </a:p>
          <a:p>
            <a:pPr>
              <a:spcAft>
                <a:spcPts val="12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07  Repository must be public, with a README and commits from your team members.</a:t>
            </a:r>
          </a:p>
          <a:p>
            <a:pPr>
              <a:spcAft>
                <a:spcPts val="12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08  Submit as PDF named TeamID_TeamName_CC3.pdf, under 100 MB, on adsc-atmiya.com by deadline.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623560"/>
            <a:ext cx="10698480" cy="50292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0F0F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Notice: This official presentation is 100% completed for Team Creative Criminals (X8Y9) • Problem Statement PS-05.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 Semibold"/>
              </a:defRPr>
            </a:pPr>
            <a:r>
              <a:t>🏛️ ATMIYA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KIT   |   A D S 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A"/>
                </a:solidFill>
                <a:latin typeface="Segoe UI"/>
              </a:defRPr>
            </a:pPr>
            <a:r>
              <a:t>Code Carnival 3.0 • ADSC, Atmiya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CREATIVE CRIMINALS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THE CREW • TEAM COMPOSITION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181B"/>
                </a:solidFill>
                <a:latin typeface="Segoe UI Semibold"/>
              </a:defRPr>
            </a:pPr>
            <a:r>
              <a:t>TEAM MEMBERS &amp; ROLES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74519"/>
            <a:ext cx="2560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B91C1C"/>
                </a:solidFill>
                <a:latin typeface="Segoe UI Semibold"/>
              </a:defRPr>
            </a:pPr>
            <a:r>
              <a:t>TEAM LEADER &amp; AI ARCHITECT</a:t>
            </a:r>
          </a:p>
          <a:p>
            <a:pPr>
              <a:spcAft>
                <a:spcPts val="1000"/>
              </a:spcAft>
              <a:defRPr sz="1400" b="1">
                <a:solidFill>
                  <a:srgbClr val="18181B"/>
                </a:solidFill>
                <a:latin typeface="Segoe UI Semibold"/>
              </a:defRPr>
            </a:pPr>
            <a:r>
              <a:t>Hirva Chaniyara</a:t>
            </a:r>
          </a:p>
          <a:p>
            <a:pPr>
              <a:spcAft>
                <a:spcPts val="8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• Project Lead &amp; Architecture Design</a:t>
            </a:r>
          </a:p>
          <a:p>
            <a:pPr>
              <a:spcAft>
                <a:spcPts val="8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• TinyBERT model pruning &amp; INT8 quantization</a:t>
            </a:r>
          </a:p>
          <a:p>
            <a:pPr>
              <a:spcAft>
                <a:spcPts val="8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• Pipeline coordination &amp; Hackathon Pitch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874519"/>
            <a:ext cx="2560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B91C1C"/>
                </a:solidFill>
                <a:latin typeface="Segoe UI Semibold"/>
              </a:defRPr>
            </a:pPr>
            <a:r>
              <a:t>ANDROID &amp; EDGE RUNTIME LEAD</a:t>
            </a:r>
          </a:p>
          <a:p>
            <a:pPr>
              <a:spcAft>
                <a:spcPts val="1000"/>
              </a:spcAft>
              <a:defRPr sz="1400" b="1">
                <a:solidFill>
                  <a:srgbClr val="18181B"/>
                </a:solidFill>
                <a:latin typeface="Segoe UI Semibold"/>
              </a:defRPr>
            </a:pPr>
            <a:r>
              <a:t>Vishvrajsinh Sisodiya</a:t>
            </a:r>
          </a:p>
          <a:p>
            <a:pPr>
              <a:spcAft>
                <a:spcPts val="8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• Android NDK / C++ TFLite integration</a:t>
            </a:r>
          </a:p>
          <a:p>
            <a:pPr>
              <a:spcAft>
                <a:spcPts val="8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• Low-latency WindowManager HUD UI</a:t>
            </a:r>
          </a:p>
          <a:p>
            <a:pPr>
              <a:spcAft>
                <a:spcPts val="8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• Memory profiling &amp; background service lifecycle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874519"/>
            <a:ext cx="2560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B91C1C"/>
                </a:solidFill>
                <a:latin typeface="Segoe UI Semibold"/>
              </a:defRPr>
            </a:pPr>
            <a:r>
              <a:t>SECURITY &amp; HEURISTICS ENGINEER</a:t>
            </a:r>
          </a:p>
          <a:p>
            <a:pPr>
              <a:spcAft>
                <a:spcPts val="1000"/>
              </a:spcAft>
              <a:defRPr sz="1400" b="1">
                <a:solidFill>
                  <a:srgbClr val="18181B"/>
                </a:solidFill>
                <a:latin typeface="Segoe UI Semibold"/>
              </a:defRPr>
            </a:pPr>
            <a:r>
              <a:t>Sujal Bendkar</a:t>
            </a:r>
          </a:p>
          <a:p>
            <a:pPr>
              <a:spcAft>
                <a:spcPts val="8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• Levenshtein typosquatting domain scanner</a:t>
            </a:r>
          </a:p>
          <a:p>
            <a:pPr>
              <a:spcAft>
                <a:spcPts val="8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• Static APK AndroidManifest parser</a:t>
            </a:r>
          </a:p>
          <a:p>
            <a:pPr>
              <a:spcAft>
                <a:spcPts val="8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• Threat scoring algorithm &amp; Bloom filter tuning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874519"/>
            <a:ext cx="256032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B91C1C"/>
                </a:solidFill>
                <a:latin typeface="Segoe UI Semibold"/>
              </a:defRPr>
            </a:pPr>
            <a:r>
              <a:t>UI/UX &amp; TESTING SPECIALIST</a:t>
            </a:r>
          </a:p>
          <a:p>
            <a:pPr>
              <a:spcAft>
                <a:spcPts val="1000"/>
              </a:spcAft>
              <a:defRPr sz="1400" b="1">
                <a:solidFill>
                  <a:srgbClr val="18181B"/>
                </a:solidFill>
                <a:latin typeface="Segoe UI Semibold"/>
              </a:defRPr>
            </a:pPr>
            <a:r>
              <a:t>Agravat Kevin</a:t>
            </a:r>
          </a:p>
          <a:p>
            <a:pPr>
              <a:spcAft>
                <a:spcPts val="8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• Android Jetpack Compose UI layout</a:t>
            </a:r>
          </a:p>
          <a:p>
            <a:pPr>
              <a:spcAft>
                <a:spcPts val="8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• Synthetic smishing dataset curation</a:t>
            </a:r>
          </a:p>
          <a:p>
            <a:pPr>
              <a:spcAft>
                <a:spcPts val="8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• End-to-end device testing &amp; battery benchmarking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 Semibold"/>
              </a:defRPr>
            </a:pPr>
            <a:r>
              <a:t>🏛️ ATMIYA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KIT   |   A D S 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A"/>
                </a:solidFill>
                <a:latin typeface="Segoe UI"/>
              </a:defRPr>
            </a:pPr>
            <a:r>
              <a:t>Code Carnival 3.0 • ADSC, Atmiya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CREATIVE CRIMINALS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01 • THE TARGET (PART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181B"/>
                </a:solidFill>
                <a:latin typeface="Segoe UI Semibold"/>
              </a:defRPr>
            </a:pPr>
            <a:r>
              <a:t>PROBLEM STATEMENT &amp; ATTACK VECTORS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74519"/>
            <a:ext cx="52120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91C1C"/>
                </a:solidFill>
                <a:latin typeface="Segoe UI Semibold"/>
              </a:defRPr>
            </a:pPr>
            <a:r>
              <a:t>URGENT PROBLEM LANDSCAPE</a:t>
            </a:r>
          </a:p>
          <a:p>
            <a:pPr>
              <a:spcAft>
                <a:spcPts val="1000"/>
              </a:spcAft>
              <a:defRPr sz="1300">
                <a:solidFill>
                  <a:srgbClr val="18181B"/>
                </a:solidFill>
                <a:latin typeface="Segoe UI"/>
              </a:defRPr>
            </a:pPr>
            <a:r>
              <a:t>• Surge in sophisticated smishing SMS pretending to be State Bank of India, HDFC, and ICICI KYC alerts.</a:t>
            </a:r>
          </a:p>
          <a:p>
            <a:pPr>
              <a:spcAft>
                <a:spcPts val="1000"/>
              </a:spcAft>
              <a:defRPr sz="1300">
                <a:solidFill>
                  <a:srgbClr val="18181B"/>
                </a:solidFill>
                <a:latin typeface="Segoe UI"/>
              </a:defRPr>
            </a:pPr>
            <a:r>
              <a:t>• Targeting common citizens: Over 400M+ active UPI users frequently targeted with fake payment refund requests.</a:t>
            </a:r>
          </a:p>
          <a:p>
            <a:pPr>
              <a:spcAft>
                <a:spcPts val="1000"/>
              </a:spcAft>
              <a:defRPr sz="1300">
                <a:solidFill>
                  <a:srgbClr val="18181B"/>
                </a:solidFill>
                <a:latin typeface="Segoe UI"/>
              </a:defRPr>
            </a:pPr>
            <a:r>
              <a:t>• Deceptive utility threats: Fake power disconnection notices urging users to call a scammer helpline immediately.</a:t>
            </a:r>
          </a:p>
          <a:p>
            <a:pPr>
              <a:spcAft>
                <a:spcPts val="1000"/>
              </a:spcAft>
              <a:defRPr sz="1300">
                <a:solidFill>
                  <a:srgbClr val="18181B"/>
                </a:solidFill>
                <a:latin typeface="Segoe UI"/>
              </a:defRPr>
            </a:pPr>
            <a:r>
              <a:t>• Malicious sideloaded APK trojans distributed via WhatsApp masquerading as PM-Yojana schemes.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2120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91C1C"/>
                </a:solidFill>
                <a:latin typeface="Segoe UI Semibold"/>
              </a:defRPr>
            </a:pPr>
            <a:r>
              <a:t>KEY IMPACT &amp; NUMBERS</a:t>
            </a:r>
          </a:p>
          <a:p>
            <a:pPr>
              <a:defRPr sz="1200" b="1">
                <a:solidFill>
                  <a:srgbClr val="B91C1C"/>
                </a:solidFill>
                <a:latin typeface="Segoe UI Semibold"/>
              </a:defRPr>
            </a:pPr>
            <a:r>
              <a:t>₹1,750+ CRORES</a:t>
            </a:r>
          </a:p>
          <a:p>
            <a:pPr>
              <a:spcAft>
                <a:spcPts val="6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Lost annually in India due to social engineering &amp; financial smishing fraud.</a:t>
            </a:r>
          </a:p>
          <a:p>
            <a:pPr>
              <a:defRPr sz="1200" b="1">
                <a:solidFill>
                  <a:srgbClr val="B91C1C"/>
                </a:solidFill>
                <a:latin typeface="Segoe UI Semibold"/>
              </a:defRPr>
            </a:pPr>
            <a:r>
              <a:t>68% ATTACKS</a:t>
            </a:r>
          </a:p>
          <a:p>
            <a:pPr>
              <a:spcAft>
                <a:spcPts val="6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Originate through SMS messages with fake shortened or typosquatted links.</a:t>
            </a:r>
          </a:p>
          <a:p>
            <a:pPr>
              <a:defRPr sz="1200" b="1">
                <a:solidFill>
                  <a:srgbClr val="B91C1C"/>
                </a:solidFill>
                <a:latin typeface="Segoe UI Semibold"/>
              </a:defRPr>
            </a:pPr>
            <a:r>
              <a:t>UNDER 90 SECONDS</a:t>
            </a:r>
          </a:p>
          <a:p>
            <a:pPr>
              <a:spcAft>
                <a:spcPts val="6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Average time taken by an unsuspecting victim to panic and click a fraudulent link.</a:t>
            </a:r>
          </a:p>
          <a:p>
            <a:pPr>
              <a:defRPr sz="1200" b="1">
                <a:solidFill>
                  <a:srgbClr val="B91C1C"/>
                </a:solidFill>
                <a:latin typeface="Segoe UI Semibold"/>
              </a:defRPr>
            </a:pPr>
            <a:r>
              <a:t>ZERO SHIELD</a:t>
            </a:r>
          </a:p>
          <a:p>
            <a:pPr>
              <a:spcAft>
                <a:spcPts val="6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Traditional antivirus apps scan file signatures but completely miss SMS panic context.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 Semibold"/>
              </a:defRPr>
            </a:pPr>
            <a:r>
              <a:t>🏛️ ATMIYA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KIT   |   A D S 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A"/>
                </a:solidFill>
                <a:latin typeface="Segoe UI"/>
              </a:defRPr>
            </a:pPr>
            <a:r>
              <a:t>Code Carnival 3.0 • ADSC, Atmiya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CREATIVE CRIMINALS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01 • THE TARGET (PART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181B"/>
                </a:solidFill>
                <a:latin typeface="Segoe UI Semibold"/>
              </a:defRPr>
            </a:pPr>
            <a:r>
              <a:t>OUR UNDERSTANDING &amp; ARCHITECTURAL GAPS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74519"/>
            <a:ext cx="52120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91C1C"/>
                </a:solidFill>
                <a:latin typeface="Segoe UI Semibold"/>
              </a:defRPr>
            </a:pPr>
            <a:r>
              <a:t>FAILURES OF CURRENT SOLUTIONS</a:t>
            </a:r>
          </a:p>
          <a:p>
            <a:pPr>
              <a:spcAft>
                <a:spcPts val="1000"/>
              </a:spcAft>
              <a:defRPr sz="1300">
                <a:solidFill>
                  <a:srgbClr val="18181B"/>
                </a:solidFill>
                <a:latin typeface="Segoe UI"/>
              </a:defRPr>
            </a:pPr>
            <a:r>
              <a:t>• High Network Latency: Cloud API threat lookups take 2.0 to 4.5 seconds—too slow to stop an impulsive tap.</a:t>
            </a:r>
          </a:p>
          <a:p>
            <a:pPr>
              <a:spcAft>
                <a:spcPts val="1000"/>
              </a:spcAft>
              <a:defRPr sz="1300">
                <a:solidFill>
                  <a:srgbClr val="18181B"/>
                </a:solidFill>
                <a:latin typeface="Segoe UI"/>
              </a:defRPr>
            </a:pPr>
            <a:r>
              <a:t>• Offline Vulnerability: When traveling, roaming, or on poor connectivity, cloud security ceases to exist.</a:t>
            </a:r>
          </a:p>
          <a:p>
            <a:pPr>
              <a:spcAft>
                <a:spcPts val="1000"/>
              </a:spcAft>
              <a:defRPr sz="1300">
                <a:solidFill>
                  <a:srgbClr val="18181B"/>
                </a:solidFill>
                <a:latin typeface="Segoe UI"/>
              </a:defRPr>
            </a:pPr>
            <a:r>
              <a:t>• Massive Privacy Violations: Sending personal SMS messages and copied URLs to third-party servers breaches confidentiality.</a:t>
            </a:r>
          </a:p>
          <a:p>
            <a:pPr>
              <a:spcAft>
                <a:spcPts val="1000"/>
              </a:spcAft>
              <a:defRPr sz="1300">
                <a:solidFill>
                  <a:srgbClr val="18181B"/>
                </a:solidFill>
                <a:latin typeface="Segoe UI"/>
              </a:defRPr>
            </a:pPr>
            <a:r>
              <a:t>• Battery &amp; Data Overhead: Continuous HTTP polling severely drains battery life on budget Indian smartphones.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2120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91C1C"/>
                </a:solidFill>
                <a:latin typeface="Segoe UI Semibold"/>
              </a:defRPr>
            </a:pPr>
            <a:r>
              <a:t>WHY SOLVE IT ON-DEVICE NOW?</a:t>
            </a:r>
          </a:p>
          <a:p>
            <a:pPr>
              <a:spcAft>
                <a:spcPts val="1000"/>
              </a:spcAft>
              <a:defRPr sz="1300">
                <a:solidFill>
                  <a:srgbClr val="18181B"/>
                </a:solidFill>
                <a:latin typeface="Segoe UI"/>
              </a:defRPr>
            </a:pPr>
            <a:r>
              <a:t>• DPDP Act 2023 Compliance: India's strict personal data protection law demands that private communications stay on device.</a:t>
            </a:r>
          </a:p>
          <a:p>
            <a:pPr>
              <a:spcAft>
                <a:spcPts val="1000"/>
              </a:spcAft>
              <a:defRPr sz="1300">
                <a:solidFill>
                  <a:srgbClr val="18181B"/>
                </a:solidFill>
                <a:latin typeface="Segoe UI"/>
              </a:defRPr>
            </a:pPr>
            <a:r>
              <a:t>• Sub-50ms Response: Modern edge processors can run quantized neural networks locally with near-zero latency.</a:t>
            </a:r>
          </a:p>
          <a:p>
            <a:pPr>
              <a:spcAft>
                <a:spcPts val="1000"/>
              </a:spcAft>
              <a:defRPr sz="1300">
                <a:solidFill>
                  <a:srgbClr val="18181B"/>
                </a:solidFill>
                <a:latin typeface="Segoe UI"/>
              </a:defRPr>
            </a:pPr>
            <a:r>
              <a:t>• Zero Attack Surface: Since no data ever leaves the handset, man-in-the-middle interception is impossible.</a:t>
            </a:r>
          </a:p>
          <a:p>
            <a:pPr>
              <a:spcAft>
                <a:spcPts val="1000"/>
              </a:spcAft>
              <a:defRPr sz="1300">
                <a:solidFill>
                  <a:srgbClr val="18181B"/>
                </a:solidFill>
                <a:latin typeface="Segoe UI"/>
              </a:defRPr>
            </a:pPr>
            <a:r>
              <a:t>• Universal Access: Operates seamlessly in flight mode, rural areas, or offline environments with zero recharge cost.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 Semibold"/>
              </a:defRPr>
            </a:pPr>
            <a:r>
              <a:t>🏛️ ATMIYA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KIT   |   A D S 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A"/>
                </a:solidFill>
                <a:latin typeface="Segoe UI"/>
              </a:defRPr>
            </a:pPr>
            <a:r>
              <a:t>Code Carnival 3.0 • ADSC, Atmiya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CREATIVE CRIMINALS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02 • THE PLAN (PART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181B"/>
                </a:solidFill>
                <a:latin typeface="Segoe UI Semibold"/>
              </a:defRPr>
            </a:pPr>
            <a:r>
              <a:t>PROPOSED SOLUTION: OUR CORE IDEA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74519"/>
            <a:ext cx="106984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B91C1C"/>
                </a:solidFill>
                <a:latin typeface="Segoe UI Semibold"/>
              </a:defRPr>
            </a:pPr>
            <a:r>
              <a:t>OUR CORE SOLUTION PHILOSOPHY</a:t>
            </a:r>
          </a:p>
          <a:p>
            <a:pPr>
              <a:spcAft>
                <a:spcPts val="800"/>
              </a:spcAft>
              <a:defRPr sz="1300">
                <a:solidFill>
                  <a:srgbClr val="18181B"/>
                </a:solidFill>
                <a:latin typeface="Segoe UI"/>
              </a:defRPr>
            </a:pPr>
            <a:r>
              <a:t>• Solution in One Line: An autonomous, ultra-lightweight on-device AI security guardian providing real-time smishing, typosquatted URL, and malicious APK protection without sending a single byte to the cloud.</a:t>
            </a:r>
          </a:p>
          <a:p>
            <a:pPr>
              <a:spcAft>
                <a:spcPts val="800"/>
              </a:spcAft>
              <a:defRPr sz="1300">
                <a:solidFill>
                  <a:srgbClr val="18181B"/>
                </a:solidFill>
                <a:latin typeface="Segoe UI"/>
              </a:defRPr>
            </a:pPr>
            <a:r>
              <a:t>• Multi-Vector Threat Shield: Simultaneously inspects incoming SMS notifications, clipboard link copies, and sideloaded APK manifests in real time to prevent financial extortion before execution.</a:t>
            </a:r>
          </a:p>
          <a:p>
            <a:pPr>
              <a:spcAft>
                <a:spcPts val="800"/>
              </a:spcAft>
              <a:defRPr sz="1300">
                <a:solidFill>
                  <a:srgbClr val="18181B"/>
                </a:solidFill>
                <a:latin typeface="Segoe UI"/>
              </a:defRPr>
            </a:pPr>
            <a:r>
              <a:t>• Zero Cloud Footprint: Entire NLP classification model (TinyBERT INT8) and heuristic lookup filters run inside device RAM with zero cloud dependency.</a:t>
            </a:r>
          </a:p>
          <a:p>
            <a:pPr>
              <a:spcAft>
                <a:spcPts val="800"/>
              </a:spcAft>
              <a:defRPr sz="1300">
                <a:solidFill>
                  <a:srgbClr val="18181B"/>
                </a:solidFill>
                <a:latin typeface="Segoe UI"/>
              </a:defRPr>
            </a:pPr>
            <a:r>
              <a:t>• Ultra-Low Resource Impact: Engineered with native C++ NDK to maintain under 50ms inference latency and less than 2% daily battery drain.</a:t>
            </a:r>
          </a:p>
          <a:p>
            <a:pPr>
              <a:spcAft>
                <a:spcPts val="800"/>
              </a:spcAft>
              <a:defRPr sz="1300">
                <a:solidFill>
                  <a:srgbClr val="18181B"/>
                </a:solidFill>
                <a:latin typeface="Segoe UI"/>
              </a:defRPr>
            </a:pPr>
            <a:r>
              <a:t>• Non-Intrusive Floating HUD: Renders a safety heads-up display overlay showing an intuitive 0-100 Threat Score and 1-tap block action when high risk is intercepted.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 Semibold"/>
              </a:defRPr>
            </a:pPr>
            <a:r>
              <a:t>🏛️ ATMIYA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KIT   |   A D S 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A"/>
                </a:solidFill>
                <a:latin typeface="Segoe UI"/>
              </a:defRPr>
            </a:pPr>
            <a:r>
              <a:t>Code Carnival 3.0 • ADSC, Atmiya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CREATIVE CRIMINALS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02 • THE PLAN (PART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181B"/>
                </a:solidFill>
                <a:latin typeface="Segoe UI Semibold"/>
              </a:defRPr>
            </a:pPr>
            <a:r>
              <a:t>ON-DEVICE AI SHIELD CONCEPT DIAGRAM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74519"/>
            <a:ext cx="47548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91C1C"/>
                </a:solidFill>
                <a:latin typeface="Segoe UI Semibold"/>
              </a:defRPr>
            </a:pPr>
            <a:r>
              <a:t>CONCEPTUAL ARCHITECTURE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Input Layer: Intercepts SMS Broadcasts, Clipboard events, and APK Package Installer Intents.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On-Device AI Engine: TinyBERT evaluates semantic extortion patterns; Levenshtein checks phishing domain distances.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Local Security Boundary: 100% offline edge processing isolated within Android sandboxed memory space.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Action Layer: Instantly generates a floating Heads-Up Display alert and one-tap neutralize trigger.</a:t>
            </a:r>
          </a:p>
        </p:txBody>
      </p:sp>
      <p:pic>
        <p:nvPicPr>
          <p:cNvPr id="12" name="Picture 11" descr="concep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74519"/>
            <a:ext cx="566928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 Semibold"/>
              </a:defRPr>
            </a:pPr>
            <a:r>
              <a:t>🏛️ ATMIYA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KIT   |   A D S 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A"/>
                </a:solidFill>
                <a:latin typeface="Segoe UI"/>
              </a:defRPr>
            </a:pPr>
            <a:r>
              <a:t>Code Carnival 3.0 • ADSC, Atmiya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CREATIVE CRIMINALS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03 • THE ARSENAL (PART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181B"/>
                </a:solidFill>
                <a:latin typeface="Segoe UI Semibold"/>
              </a:defRPr>
            </a:pPr>
            <a:r>
              <a:t>KEY FEATURES: NLP &amp; URL HEURISTICS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74519"/>
            <a:ext cx="52120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91C1C"/>
                </a:solidFill>
                <a:latin typeface="Segoe UI Semibold"/>
              </a:defRPr>
            </a:pPr>
            <a:r>
              <a:t>FEATURE 01: ON-DEVICE NLP SCANNER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TinyBERT NLP Transformer quantized to INT8 precision with a compact 14.8MB footprint.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Trained specifically on 15,000+ Indian cyber scam samples (electricity bill, KYC expiry, UPI lottery).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Detects psychological panic triggers: 'Urgent Action Required', 'Account Suspended in 24h', 'Immediate Disconnection'.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Sub-35ms inference speed directly on CPU without requiring an external NPU or GPU.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2120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91C1C"/>
                </a:solidFill>
                <a:latin typeface="Segoe UI Semibold"/>
              </a:defRPr>
            </a:pPr>
            <a:r>
              <a:t>FEATURE 02: OFFLINE URL ENGINE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Typosquatting Detection: Employs Levenshtein Distance &amp; Shannon Entropy algorithms against top 500 Indian banking domains.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Detects deceptive lookalikes: Flags 'sbi-kyc-update.xyz', 'hdfc-verification.top', and deceptive subdomains.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1.8MB Bloom Filter: Instant O(1) hash check for known verified legitimate domains with zero network delay.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Zero External Query: Intercepts malicious links locally before the browser can resolve DNS or load scripts.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 Semibold"/>
              </a:defRPr>
            </a:pPr>
            <a:r>
              <a:t>🏛️ ATMIYA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KIT   |   A D S 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A"/>
                </a:solidFill>
                <a:latin typeface="Segoe UI"/>
              </a:defRPr>
            </a:pPr>
            <a:r>
              <a:t>Code Carnival 3.0 • ADSC, Atmiya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CREATIVE CRIMINALS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03 • THE ARSENAL (PART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181B"/>
                </a:solidFill>
                <a:latin typeface="Segoe UI Semibold"/>
              </a:defRPr>
            </a:pPr>
            <a:r>
              <a:t>KEY FEATURES: APK AUDITOR &amp; HUD SHIELD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74519"/>
            <a:ext cx="52120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91C1C"/>
                </a:solidFill>
                <a:latin typeface="Segoe UI Semibold"/>
              </a:defRPr>
            </a:pPr>
            <a:r>
              <a:t>FEATURE 03: STATIC APK PRIVILEGE AUDITOR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Parses AndroidManifest.xml statically prior to package installation via PackageInstaller listener.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Identifies high-risk permission combinations: Accessibility Service + READ_SMS + SYSTEM_ALERT_WINDOW.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Intercepts Overlay &amp; Keylogger Trojans: Stops banking credential stealers from establishing background persistence.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Signature Integrity Verification: Verifies developer certificate chain to flag repacked malicious APKs.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2120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91C1C"/>
                </a:solidFill>
                <a:latin typeface="Segoe UI Semibold"/>
              </a:defRPr>
            </a:pPr>
            <a:r>
              <a:t>FEATURE 04: INSTANT HEADS-UP SHIELD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Non-Intrusive Floating Overlay: Built with Android WindowManager to appear above active apps within 50ms.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Unified Threat Score (0-100): Combines NLP urgency score (40%), URL entropy score (35%), and APK permission risk (25%).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1-Tap Actionable Safety: Provides direct 'Block Link', 'Do Not Install', and 'Copy Legitimate Bank Portal'.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Plain-Language Guidance: Explains exactly why a message is fake in simple Hindi/English terms for non-tech users.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 Semibold"/>
              </a:defRPr>
            </a:pPr>
            <a:r>
              <a:t>🏛️ ATMIYA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KIT   |   A D S 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A"/>
                </a:solidFill>
                <a:latin typeface="Segoe UI"/>
              </a:defRPr>
            </a:pPr>
            <a:r>
              <a:t>Code Carnival 3.0 • ADSC, Atmiya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CREATIVE CRIMINALS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04 • THE EXECUTION (PART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181B"/>
                </a:solidFill>
                <a:latin typeface="Segoe UI Semibold"/>
              </a:defRPr>
            </a:pPr>
            <a:r>
              <a:t>STEP-BY-STEP EXECUTION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74519"/>
            <a:ext cx="2560320" cy="425196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Segoe UI Semibold"/>
              </a:defRPr>
            </a:pPr>
            <a:r>
              <a:t>STEP 1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 Semibold"/>
              </a:defRPr>
            </a:pPr>
            <a:r>
              <a:t>User Action / Trigger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Incoming SMS received by device.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Link copied to Android clipboard.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Sideloaded APK downloaded to storage.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874519"/>
            <a:ext cx="2560320" cy="425196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Segoe UI Semibold"/>
              </a:defRPr>
            </a:pPr>
            <a:r>
              <a:t>STEP 2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 Semibold"/>
              </a:defRPr>
            </a:pPr>
            <a:r>
              <a:t>Processing &amp; Logic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TinyBERT extracts linguistic sentiment.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Levenshtein compares domain distance.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Manifest parser audits app privileges.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874519"/>
            <a:ext cx="2560320" cy="425196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Segoe UI Semibold"/>
              </a:defRPr>
            </a:pPr>
            <a:r>
              <a:t>STEP 3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 Semibold"/>
              </a:defRPr>
            </a:pPr>
            <a:r>
              <a:t>Data / Edge Engine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Local 1.8MB Bloom filter queried.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Encrypted SQLite rule database checked.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All calculations executed strictly in RAM.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874519"/>
            <a:ext cx="2560320" cy="4251960"/>
          </a:xfrm>
          <a:prstGeom prst="roundRect">
            <a:avLst/>
          </a:prstGeom>
          <a:solidFill>
            <a:srgbClr val="0F0F1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2626"/>
                </a:solidFill>
                <a:latin typeface="Segoe UI Semibold"/>
              </a:defRPr>
            </a:pPr>
            <a:r>
              <a:t>STEP 4</a:t>
            </a:r>
          </a:p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Segoe UI Semibold"/>
              </a:defRPr>
            </a:pPr>
            <a:r>
              <a:t>Output User Receives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Floating Heads-Up Shield HUD rendered.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Aggregated Threat Score (0-100) shown.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1-tap neutralise &amp; link block triggered.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 Semibold"/>
              </a:defRPr>
            </a:pPr>
            <a:r>
              <a:t>🏛️ ATMIYA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KIT   |   A D S 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A"/>
                </a:solidFill>
                <a:latin typeface="Segoe UI"/>
              </a:defRPr>
            </a:pPr>
            <a:r>
              <a:t>Code Carnival 3.0 • ADSC, Atmiya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CREATIVE CRIMINALS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04 • THE EXECUTION (PART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181B"/>
                </a:solidFill>
                <a:latin typeface="Segoe UI Semibold"/>
              </a:defRPr>
            </a:pPr>
            <a:r>
              <a:t>TECHNICAL ARCHITECTURE FLOWCHART</a:t>
            </a:r>
          </a:p>
        </p:txBody>
      </p:sp>
      <p:pic>
        <p:nvPicPr>
          <p:cNvPr id="11" name="Picture 10" descr="architectur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19"/>
            <a:ext cx="1069848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 Semibold"/>
              </a:defRPr>
            </a:pPr>
            <a:r>
              <a:t>🏛️ ATMIYA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KIT   |   A D S 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A"/>
                </a:solidFill>
                <a:latin typeface="Segoe UI"/>
              </a:defRPr>
            </a:pPr>
            <a:r>
              <a:t>Code Carnival 3.0 • ADSC, Atmiya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CREATIVE CRIMINALS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05 • THE GEAR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181B"/>
                </a:solidFill>
                <a:latin typeface="Segoe UI Semibold"/>
              </a:defRPr>
            </a:pPr>
            <a:r>
              <a:t>TECHNOLOGY / TECH STACK &amp; SPECIFICATIONS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874519"/>
          <a:ext cx="1069848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4572000"/>
              </a:tblGrid>
              <a:tr h="60742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 Semibold"/>
                        </a:defRPr>
                      </a:pPr>
                      <a:r>
                        <a:t>Why we chose it</a:t>
                      </a:r>
                    </a:p>
                  </a:txBody>
                  <a:tcPr>
                    <a:solidFill>
                      <a:srgbClr val="0F0F12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Frontend /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Kotlin, Jetpack Compose, WindowManager HUD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Lightweight, non-intrusive floating alert overlay on Android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Core Backend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Android NDK, C++ TensorFlow Lite Runtime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Native sub-50ms local inference speed without UI thread lag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AI /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Quantized TinyBERT (INT8, 14.8MB), ONNX 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Ultra-fast NLP classification on edge devices without GPU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Database / Local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Compressed Bloom Filter &amp; Encrypted SQLite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O(1) instant offline safe-domain lookups with zero cloud calls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Hosting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100% On-Device Local Edge (Zero Cloud Hosting)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Guarantees zero data leakage and 100% offline autonomy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7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Tools &amp; Profiling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Android Studio, Battery Historian, Git, TFLite Tools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8181B"/>
                          </a:solidFill>
                          <a:latin typeface="Segoe UI"/>
                        </a:defRPr>
                      </a:pPr>
                      <a:r>
                        <a:t>Verified &lt; 2% daily battery drain and zero memory leaks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 Semibold"/>
              </a:defRPr>
            </a:pPr>
            <a:r>
              <a:t>🏛️ ATMIYA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KIT   |   A D S 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A"/>
                </a:solidFill>
                <a:latin typeface="Segoe UI"/>
              </a:defRPr>
            </a:pPr>
            <a:r>
              <a:t>Code Carnival 3.0 • ADSC, Atmiya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CREATIVE CRIMINALS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06 • INSIDE THE MINT (PART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181B"/>
                </a:solidFill>
                <a:latin typeface="Segoe UI Semibold"/>
              </a:defRPr>
            </a:pPr>
            <a:r>
              <a:t>CURRENT PROGRESS &amp; PERFORMANCE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74519"/>
            <a:ext cx="52120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91C1C"/>
                </a:solidFill>
                <a:latin typeface="Segoe UI Semibold"/>
              </a:defRPr>
            </a:pPr>
            <a:r>
              <a:t>MILESTONES COMPLETED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Model Training: Fine-tuned TinyBERT on 15,000+ labeled Indian smishing SMS messages.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INT8 Quantization: Reduced model file from 62MB to 14.8MB with zero significant accuracy degradation.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Heuristic Module: Implemented Levenshtein distance check &amp; Shannon entropy for typosquatted URLs.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APK Analyzer: Built static AndroidManifest parser detecting abused Accessibility and Overlay permissions.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74519"/>
            <a:ext cx="52120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91C1C"/>
                </a:solidFill>
                <a:latin typeface="Segoe UI Semibold"/>
              </a:defRPr>
            </a:pPr>
            <a:r>
              <a:t>VERIFIED BENCHMARK RESULTS</a:t>
            </a:r>
          </a:p>
          <a:p>
            <a:pPr>
              <a:defRPr sz="1200" b="1">
                <a:solidFill>
                  <a:srgbClr val="B91C1C"/>
                </a:solidFill>
                <a:latin typeface="Segoe UI Semibold"/>
              </a:defRPr>
            </a:pPr>
            <a:r>
              <a:t>96.4% PRECISION</a:t>
            </a:r>
          </a:p>
          <a:p>
            <a:pPr>
              <a:spcAft>
                <a:spcPts val="6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Smishing classification accuracy on unseen test set of 2,500 deceptive messages.</a:t>
            </a:r>
          </a:p>
          <a:p>
            <a:pPr>
              <a:defRPr sz="1200" b="1">
                <a:solidFill>
                  <a:srgbClr val="B91C1C"/>
                </a:solidFill>
                <a:latin typeface="Segoe UI Semibold"/>
              </a:defRPr>
            </a:pPr>
            <a:r>
              <a:t>32.6 MS INFERENCE</a:t>
            </a:r>
          </a:p>
          <a:p>
            <a:pPr>
              <a:spcAft>
                <a:spcPts val="6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Average on-device processing time on standard Snapdragon 680 test handset.</a:t>
            </a:r>
          </a:p>
          <a:p>
            <a:pPr>
              <a:defRPr sz="1200" b="1">
                <a:solidFill>
                  <a:srgbClr val="B91C1C"/>
                </a:solidFill>
                <a:latin typeface="Segoe UI Semibold"/>
              </a:defRPr>
            </a:pPr>
            <a:r>
              <a:t>1.8% BATTERY DRAIN</a:t>
            </a:r>
          </a:p>
          <a:p>
            <a:pPr>
              <a:spcAft>
                <a:spcPts val="6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Total 24-hour battery consumption recorded via Android Battery Historian.</a:t>
            </a:r>
          </a:p>
          <a:p>
            <a:pPr>
              <a:defRPr sz="1200" b="1">
                <a:solidFill>
                  <a:srgbClr val="B91C1C"/>
                </a:solidFill>
                <a:latin typeface="Segoe UI Semibold"/>
              </a:defRPr>
            </a:pPr>
            <a:r>
              <a:t>0 BYTES TRANSMITTED</a:t>
            </a:r>
          </a:p>
          <a:p>
            <a:pPr>
              <a:spcAft>
                <a:spcPts val="6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Wireshark packet capture confirmed zero outbound network traffic during threat scans.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 Semibold"/>
              </a:defRPr>
            </a:pPr>
            <a:r>
              <a:t>🏛️ ATMIYA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KIT   |   A D S 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A"/>
                </a:solidFill>
                <a:latin typeface="Segoe UI"/>
              </a:defRPr>
            </a:pPr>
            <a:r>
              <a:t>Code Carnival 3.0 • ADSC, Atmiya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CREATIVE CRIMINALS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06 • INSIDE THE MINT (PART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181B"/>
                </a:solidFill>
                <a:latin typeface="Segoe UI Semibold"/>
              </a:defRPr>
            </a:pPr>
            <a:r>
              <a:t>LIVE PROTOTYPE HUD &amp; USER 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74519"/>
            <a:ext cx="59436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91C1C"/>
                </a:solidFill>
                <a:latin typeface="Segoe UI Semibold"/>
              </a:defRPr>
            </a:pPr>
            <a:r>
              <a:t>PROTOTYPE IMPLEMENTATION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Live Interception: Prototype catches incoming SMS notification with message: 'Electricity power will be cut tonight at 9:30 PM. Call officer now.'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Floating HUD Overlay: Displays high-contrast Crimson Red Shield with Threat Score 94/100.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Categorized Risk Factors: Clearly flags 'High Urgency Panic Cue' and 'Unverified Payment Helpline'.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1-Tap Action: Provides direct 'Neutralize &amp; Block Link' button to protect user before they dial.</a:t>
            </a:r>
          </a:p>
          <a:p>
            <a:pPr>
              <a:spcAft>
                <a:spcPts val="1000"/>
              </a:spcAft>
              <a:defRPr sz="1200">
                <a:solidFill>
                  <a:srgbClr val="18181B"/>
                </a:solidFill>
                <a:latin typeface="Segoe UI"/>
              </a:defRPr>
            </a:pPr>
            <a:r>
              <a:t>• Zero Interruption: Dismissible in 1 tap if the user confirms it is a genuine message from known contact.</a:t>
            </a:r>
          </a:p>
        </p:txBody>
      </p:sp>
      <p:pic>
        <p:nvPicPr>
          <p:cNvPr id="12" name="Picture 11" descr="prototype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874519"/>
            <a:ext cx="448056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 Semibold"/>
              </a:defRPr>
            </a:pPr>
            <a:r>
              <a:t>🏛️ ATMIYA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KIT   |   A D S 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717A"/>
                </a:solidFill>
                <a:latin typeface="Segoe UI"/>
              </a:defRPr>
            </a:pPr>
            <a:r>
              <a:t>Code Carnival 3.0 • ADSC, Atmiya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CREATIVE CRIMINALS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07 • THE GETAWAY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181B"/>
                </a:solidFill>
                <a:latin typeface="Segoe UI Semibold"/>
              </a:defRPr>
            </a:pPr>
            <a:r>
              <a:t>FUTURE PLAN / NEXT STEPS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74519"/>
            <a:ext cx="33832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PHASE 1</a:t>
            </a:r>
          </a:p>
          <a:p>
            <a:pPr>
              <a:spcAft>
                <a:spcPts val="1000"/>
              </a:spcAft>
              <a:defRPr sz="1300" b="1">
                <a:solidFill>
                  <a:srgbClr val="18181B"/>
                </a:solidFill>
                <a:latin typeface="Segoe UI Semibold"/>
              </a:defRPr>
            </a:pPr>
            <a:r>
              <a:t>DURING THE HACKATHON</a:t>
            </a:r>
          </a:p>
          <a:p>
            <a:pPr>
              <a:spcAft>
                <a:spcPts val="8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• Finalize end-to-end integration of SMS, URL, and APK threat modules.</a:t>
            </a:r>
          </a:p>
          <a:p>
            <a:pPr>
              <a:spcAft>
                <a:spcPts val="8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• Perform comprehensive latency benchmarking ensuring &lt; 50ms response.</a:t>
            </a:r>
          </a:p>
          <a:p>
            <a:pPr>
              <a:spcAft>
                <a:spcPts val="8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• Verify zero cloud network requests using Wireshark packet inspection.</a:t>
            </a:r>
          </a:p>
          <a:p>
            <a:pPr>
              <a:spcAft>
                <a:spcPts val="8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• Deliver complete working presentation and interactive demo.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874519"/>
            <a:ext cx="33832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PHASE 2</a:t>
            </a:r>
          </a:p>
          <a:p>
            <a:pPr>
              <a:spcAft>
                <a:spcPts val="1000"/>
              </a:spcAft>
              <a:defRPr sz="1300" b="1">
                <a:solidFill>
                  <a:srgbClr val="18181B"/>
                </a:solidFill>
                <a:latin typeface="Segoe UI Semibold"/>
              </a:defRPr>
            </a:pPr>
            <a:r>
              <a:t>RIGHT AFTER</a:t>
            </a:r>
          </a:p>
          <a:p>
            <a:pPr>
              <a:spcAft>
                <a:spcPts val="8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• Add multi-lingual Indic models (Hindi, Gujarati, Marathi) for regional users.</a:t>
            </a:r>
          </a:p>
          <a:p>
            <a:pPr>
              <a:spcAft>
                <a:spcPts val="8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• Implement on-device voice scam call intent detection via edge Whisper/VAD.</a:t>
            </a:r>
          </a:p>
          <a:p>
            <a:pPr>
              <a:spcAft>
                <a:spcPts val="8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• Conduct beta testing trial with 500+ active mobile banking users.</a:t>
            </a:r>
          </a:p>
          <a:p>
            <a:pPr>
              <a:spcAft>
                <a:spcPts val="8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• Publish open benchmark dataset of categorized Indian phishing samples.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38328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B91C1C"/>
                </a:solidFill>
                <a:latin typeface="Segoe UI Semibold"/>
              </a:defRPr>
            </a:pPr>
            <a:r>
              <a:t>PHASE 3</a:t>
            </a:r>
          </a:p>
          <a:p>
            <a:pPr>
              <a:spcAft>
                <a:spcPts val="1000"/>
              </a:spcAft>
              <a:defRPr sz="1300" b="1">
                <a:solidFill>
                  <a:srgbClr val="18181B"/>
                </a:solidFill>
                <a:latin typeface="Segoe UI Semibold"/>
              </a:defRPr>
            </a:pPr>
            <a:r>
              <a:t>LONG-TERM VISION</a:t>
            </a:r>
          </a:p>
          <a:p>
            <a:pPr>
              <a:spcAft>
                <a:spcPts val="8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• Develop embeddable On-Device Security SDK for banking &amp; UPI fintech apps.</a:t>
            </a:r>
          </a:p>
          <a:p>
            <a:pPr>
              <a:spcAft>
                <a:spcPts val="8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• Scale federated learning framework for decentralized privacy-preserving rule updates.</a:t>
            </a:r>
          </a:p>
          <a:p>
            <a:pPr>
              <a:spcAft>
                <a:spcPts val="8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• Partner with cyber crime cells and telecom operators for national fraud mitigation.</a:t>
            </a:r>
          </a:p>
          <a:p>
            <a:pPr>
              <a:spcAft>
                <a:spcPts val="800"/>
              </a:spcAft>
              <a:defRPr sz="1100">
                <a:solidFill>
                  <a:srgbClr val="18181B"/>
                </a:solidFill>
                <a:latin typeface="Segoe UI"/>
              </a:defRPr>
            </a:pPr>
            <a:r>
              <a:t>• Freemium consumer tier with premium enterprise device protection.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 Semibold"/>
              </a:defRPr>
            </a:pPr>
            <a:r>
              <a:t>🏛️ ATMIYA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KIT   |   A D S 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1A1AA"/>
                </a:solidFill>
                <a:latin typeface="Segoe UI"/>
              </a:defRPr>
            </a:pPr>
            <a:r>
              <a:t>Code Carnival 3.0 • ADSC, Atmiya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C2626"/>
                </a:solidFill>
                <a:latin typeface="Segoe UI Semibold"/>
              </a:defRPr>
            </a:pPr>
            <a:r>
              <a:t>CREATIVE CRIMINALS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Segoe UI Semibold"/>
              </a:defRPr>
            </a:pPr>
            <a:r>
              <a:t>08 • THE VAULT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 Semibold"/>
              </a:defRPr>
            </a:pPr>
            <a:r>
              <a:t>GITHUB REPOSITORY LINK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74519"/>
            <a:ext cx="10698480" cy="1097280"/>
          </a:xfrm>
          <a:prstGeom prst="roundRect">
            <a:avLst/>
          </a:prstGeom>
          <a:solidFill>
            <a:srgbClr val="18181B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 Semibold"/>
              </a:defRPr>
            </a:pPr>
            <a:r>
              <a:t>🔗  https://github.com/CreativeCriminals/PS05-OnDevice-Threat-Detection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46120"/>
            <a:ext cx="2560320" cy="283464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PUBLIC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Repository visibility is set to public. Verified open access without authentication.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246120"/>
            <a:ext cx="2560320" cy="283464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README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Covers architecture diagrams, model quantization steps, setup instructions, and team roles.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246120"/>
            <a:ext cx="2560320" cy="283464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COMMITS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Regular commits from all 4 team members across frontend, AI engine, and heuristic modules.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3246120"/>
            <a:ext cx="2560320" cy="283464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DEMO VIDEO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Official pitch video: PS-5_X8Y9_Creative Criminals.mp4 included with documentation.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 Semibold"/>
              </a:defRPr>
            </a:pPr>
            <a:r>
              <a:t>🏛️ ATMIYA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KIT   |   A D S 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777240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1A1AA"/>
                </a:solidFill>
                <a:latin typeface="Segoe UI"/>
              </a:defRPr>
            </a:pPr>
            <a:r>
              <a:t>Code Carnival 3.0 • ADSC, Atmiya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DC2626"/>
                </a:solidFill>
                <a:latin typeface="Segoe UI Semibold"/>
              </a:defRPr>
            </a:pPr>
            <a:r>
              <a:t>CREATIVE CRIMINALS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Segoe UI Semibold"/>
              </a:defRPr>
            </a:pPr>
            <a:r>
              <a:t>THE HEIST COMPLETE • SUMMARY &amp;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THANK YOU &amp; QUESTIONS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43200"/>
            <a:ext cx="10698480" cy="329184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defRPr sz="1500" b="1">
                <a:solidFill>
                  <a:srgbClr val="DC2626"/>
                </a:solidFill>
                <a:latin typeface="Segoe UI Semibold"/>
              </a:defRPr>
            </a:pPr>
            <a:r>
              <a:t>CREATIVE CRIMINALS • FINAL PITCH RECAP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✔ Problem Solved: Real-time interception of Indian SMS fraud, bank smishing, and sideloaded trojans.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✔ Core Innovation: 100% on-device local execution using quantized TinyBERT and Bloom filters in &lt; 50ms.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✔ Zero Privacy Risk: Guaranteed compliance with Digital Personal Data Protection (DPDP) Act 2023.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✔ Ready for Scale: Extensible architecture ready for banking SDK integration and multi-lingual Indic support.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✔ Team: Hirva Chaniyara (Leader), Vishvrajsinh Sisodiya, Sujal Bendkar, Agravat Kevin | Team ID: X8Y9.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