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731520"/>
            <a:ext cx="9448495" cy="548640"/>
          </a:xfrm>
          <a:prstGeom prst="roundRect">
            <a:avLst/>
          </a:prstGeom>
          <a:solidFill>
            <a:srgbClr val="10192D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 •  ATMIYA UNIVERSITY (ADSC)  •  OFFICIAL HACKATHON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7135" cy="2011680"/>
          </a:xfrm>
          <a:prstGeom prst="roundRect">
            <a:avLst/>
          </a:prstGeom>
          <a:solidFill>
            <a:srgbClr val="0E1628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Segoe UI Semibold"/>
              </a:defRPr>
            </a:pPr>
            <a:r>
              <a:t>ON-DEVICE THREAT, PHISHING &amp; SCAM DETECTION</a:t>
            </a:r>
          </a:p>
          <a:p>
            <a:pPr algn="ctr">
              <a:defRPr sz="1800">
                <a:solidFill>
                  <a:srgbClr val="00F0FF"/>
                </a:solidFill>
                <a:latin typeface="Segoe UI"/>
              </a:defRPr>
            </a:pPr>
            <a:r>
              <a:t>A Privacy-Preserving, Real-Time Edge Intelligence Shield for Smartphones</a:t>
            </a:r>
          </a:p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Problem Statement: PS-05 (PS-5)  •  Domain: Mobile Cybersecurity &amp; AI  •  Team Code: X8Y9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97135" cy="26517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  |   TEAM ID: X8Y9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2240280" cy="1691640"/>
          </a:xfrm>
          <a:prstGeom prst="roundRect">
            <a:avLst/>
          </a:prstGeom>
          <a:solidFill>
            <a:srgbClr val="141D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👑 TEAM LEADER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Hirva Chaniyara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Architecture, TinyML &amp; Project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389120"/>
            <a:ext cx="2240280" cy="1691640"/>
          </a:xfrm>
          <a:prstGeom prst="roundRect">
            <a:avLst/>
          </a:prstGeom>
          <a:solidFill>
            <a:srgbClr val="141D34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  <a:latin typeface="Segoe UI Semibold"/>
              </a:defRPr>
            </a:pPr>
            <a:r>
              <a:t>🛡️ CORE MEMBER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Vishvrajsinh Sisodiya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Android Threat Hooks &amp; IPC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389120"/>
            <a:ext cx="2240280" cy="1691640"/>
          </a:xfrm>
          <a:prstGeom prst="roundRect">
            <a:avLst/>
          </a:prstGeom>
          <a:solidFill>
            <a:srgbClr val="141D34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  <a:latin typeface="Segoe UI Semibold"/>
              </a:defRPr>
            </a:pPr>
            <a:r>
              <a:t>🛡️ CORE MEMBER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Sujal Bendkar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Heuristic Engine &amp; Local Bloom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389120"/>
            <a:ext cx="2240280" cy="1691640"/>
          </a:xfrm>
          <a:prstGeom prst="roundRect">
            <a:avLst/>
          </a:prstGeom>
          <a:solidFill>
            <a:srgbClr val="141D34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  <a:latin typeface="Segoe UI Semibold"/>
              </a:defRPr>
            </a:pPr>
            <a:r>
              <a:t>🛡️ CORE MEMBER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Agravat Kevin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UI Alert Overlay &amp; APK Permission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2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Executive Summary &amp; Core 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F0FF"/>
                </a:solidFill>
                <a:latin typeface="Segoe UI Semibold"/>
              </a:defRPr>
            </a:pPr>
            <a:r>
              <a:t>THE CORE CHALLENGE &amp; OUR VISION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• The Escalating Crisis: 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India faces a staggering rise in SMS smishing, fake bank KYC notices, deceptive UPI links, and malicious trojan APKs resulting in ₹1,750+ Cr lost annually.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• The Flaw of Existing Scanners: 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Traditional antiviruses transmit sensitive user chats, SMS, and browsing telemetry to cloud servers—compromising personal privacy, causing network delay, and failing completely offline.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• Our Breakthrough: 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Team Creative Criminals introduces an ultra-lightweight, 100% on-device AI security engine that executes local NLP and heuristic threat scanning in under 50 milliseconds.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• Zero Cloud Leakage: 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No messages, URLs, or contacts ever leave the smartphone. True privacy-first cyber defense for every citizen.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105156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🔒 100% Data Privacy (DPDP Act)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Zero cloud transmission. All model inferences run completely on device NPU/CPU, protecting user confidentiality.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80360"/>
            <a:ext cx="5212080" cy="105156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⚡ Sub-50ms Ultra-Fast Latency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Proactive threat detection intervenes before the user can tap deceptive links or approve fraudulent UPI intents.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105156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  <a:latin typeface="Segoe UI Semibold"/>
              </a:defRPr>
            </a:pPr>
            <a:r>
              <a:t>📶 Autonomous Offline Defense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Functions seamlessly in flights, rural areas, or airplane mode without relying on external cloud APIs.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166360"/>
            <a:ext cx="5212080" cy="105156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43F5E"/>
                </a:solidFill>
                <a:latin typeface="Segoe UI Semibold"/>
              </a:defRPr>
            </a:pPr>
            <a:r>
              <a:t>🔋 &lt; 2% Battery &amp; CPU Footprint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Quantized INT8 neural model optimized specifically for mid-range and budget smartphones.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3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The Threat Crisis: Mobile Cyber Frauds in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347472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Segoe UI Semibold"/>
              </a:defRPr>
            </a:pPr>
            <a:r>
              <a:t>1. SMS Smishing &amp; Urgency Traps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Attackers craft deceptive SMS alerts claiming electricity disconnections, bank account suspension, or lottery wins.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Forces victims into panicked actions within seconds.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Extracts confidential OTPs and credentials via social engineering.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29000" cy="347472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Segoe UI Semibold"/>
              </a:defRPr>
            </a:pPr>
            <a:r>
              <a:t>2. Malicious Sideloaded APKs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Deceptive apps mimic utility tools, banking apps, or courier trackers distributed via WhatsApp / telegram links.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Abuses Android Accessibility Services silently.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Records keystrokes, hijacks screens, and steals 2FA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37360"/>
            <a:ext cx="3429000" cy="347472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Segoe UI Semibold"/>
              </a:defRPr>
            </a:pPr>
            <a:r>
              <a:t>3. UPI &amp; QR Code Deceptions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Deceptive payment links sent via chat pretending to be cashbacks or refund claims.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Tricks users into entering UPI MPIN to 'receive' money.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Exploits lack of instant link verification on smartphones.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C101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🚨 ALARMING REALITY: Over ₹1,750+ Crores lost in India annually to financial cyber frauds. 68% of attacks originate via SMS &amp; deceptive links.</a:t>
            </a:r>
          </a:p>
          <a:p>
            <a:pPr algn="ctr">
              <a:defRPr sz="1050">
                <a:solidFill>
                  <a:srgbClr val="F43F5E"/>
                </a:solidFill>
                <a:latin typeface="Segoe UI"/>
              </a:defRPr>
            </a:pPr>
            <a:r>
              <a:t>Without on-device, instant, zero-latency protection, users cannot identify sophisticated scams in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The Cloud Dilemma: Why Current Solutions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Segoe UI Semibold"/>
              </a:defRPr>
            </a:pPr>
            <a:r>
              <a:t>🚨 Severe Privacy Violations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Uploading personal SMS, private messages, and contact lists to third-party cloud servers violates fundamental privacy and creates liability under India's DPDP Act 2023.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Segoe UI Semibold"/>
              </a:defRPr>
            </a:pPr>
            <a:r>
              <a:t>⏱️ High Network Latency (2 - 4 Seconds)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Cloud round-trips take multiple seconds. By the time the server responds with a threat verdict, the user has already tapped the malicious link or authorized the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A855F7"/>
                </a:solidFill>
                <a:latin typeface="Segoe UI Semibold"/>
              </a:defRPr>
            </a:pPr>
            <a:r>
              <a:t>📶 Total Failure in Offline &amp; Low-Network Zones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Cloud-dependent scanners cease functioning during transit, flights, or rural tier-3 regions where connectivity is unstable, leaving users completely defenseless.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Segoe UI Semibold"/>
              </a:defRPr>
            </a:pPr>
            <a:r>
              <a:t>💰 Heavy Server Operating Costs &amp; Subscription Fees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Maintaining central cloud servers processing billions of daily scans incurs massive bandwidth costs, forcing vendors to charge heavy recurring subscription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5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Proposed Solution: 100% On-Device AI Security 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0FF"/>
                </a:solidFill>
                <a:latin typeface="Segoe UI"/>
              </a:defRPr>
            </a:pPr>
            <a:r>
              <a:t>Architectural Paradigm Shift: Traditional Cloud Scanners vs. Creative Criminals Edge Shield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5212080" cy="4297680"/>
          </a:xfrm>
          <a:prstGeom prst="roundRect">
            <a:avLst/>
          </a:prstGeom>
          <a:solidFill>
            <a:srgbClr val="18101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3F5E"/>
                </a:solidFill>
                <a:latin typeface="Segoe UI Semibold"/>
              </a:defRPr>
            </a:pPr>
            <a:r>
              <a:t>❌ TRADITIONAL CLOUD SCANNERS</a:t>
            </a:r>
          </a:p>
          <a:p>
            <a:pPr>
              <a:defRPr sz="1100">
                <a:solidFill>
                  <a:srgbClr val="FECACA"/>
                </a:solidFill>
                <a:latin typeface="Segoe UI"/>
              </a:defRPr>
            </a:pPr>
            <a:r>
              <a:t>• Data Privacy Risk: Uploads personal SMS, contact data, and URLs to external third-party servers.</a:t>
            </a:r>
          </a:p>
          <a:p>
            <a:pPr>
              <a:defRPr sz="1100">
                <a:solidFill>
                  <a:srgbClr val="FECACA"/>
                </a:solidFill>
                <a:latin typeface="Segoe UI"/>
              </a:defRPr>
            </a:pPr>
            <a:r>
              <a:t>• High Latency (1.5s - 4.0s): Network delays prevent real-time blocking before user clicks malicious links.</a:t>
            </a:r>
          </a:p>
          <a:p>
            <a:pPr>
              <a:defRPr sz="1100">
                <a:solidFill>
                  <a:srgbClr val="FECACA"/>
                </a:solidFill>
                <a:latin typeface="Segoe UI"/>
              </a:defRPr>
            </a:pPr>
            <a:r>
              <a:t>• Fails When Offline: Completely useless in remote locations, train travel, or during connectivity drops.</a:t>
            </a:r>
          </a:p>
          <a:p>
            <a:pPr>
              <a:defRPr sz="1100">
                <a:solidFill>
                  <a:srgbClr val="FECACA"/>
                </a:solidFill>
                <a:latin typeface="Segoe UI"/>
              </a:defRPr>
            </a:pPr>
            <a:r>
              <a:t>• High Operating Cost: Requires massive cloud servers and expensive monthly user subscriptions.</a:t>
            </a:r>
          </a:p>
          <a:p>
            <a:pPr>
              <a:defRPr sz="1100">
                <a:solidFill>
                  <a:srgbClr val="FECACA"/>
                </a:solidFill>
                <a:latin typeface="Segoe UI"/>
              </a:defRPr>
            </a:pPr>
            <a:r>
              <a:t>• Vulnerable to Server Breaches: Centralized databases of user message logs are attractive targets for hackers.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12080" cy="4297680"/>
          </a:xfrm>
          <a:prstGeom prst="roundRect">
            <a:avLst/>
          </a:prstGeom>
          <a:solidFill>
            <a:srgbClr val="0E1C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  <a:latin typeface="Segoe UI Semibold"/>
              </a:defRPr>
            </a:pPr>
            <a:r>
              <a:t>✅ OUR ON-DEVICE AI SHIELD (CREATIVE CRIMINALS)</a:t>
            </a:r>
          </a:p>
          <a:p>
            <a:pPr>
              <a:defRPr sz="1100">
                <a:solidFill>
                  <a:srgbClr val="A7F3D0"/>
                </a:solidFill>
                <a:latin typeface="Segoe UI"/>
              </a:defRPr>
            </a:pPr>
            <a:r>
              <a:t>• 100% Local Inference: Zero personal data leaves the smartphone. Total privacy guaranteed.</a:t>
            </a:r>
          </a:p>
          <a:p>
            <a:pPr>
              <a:defRPr sz="1100">
                <a:solidFill>
                  <a:srgbClr val="A7F3D0"/>
                </a:solidFill>
                <a:latin typeface="Segoe UI"/>
              </a:defRPr>
            </a:pPr>
            <a:r>
              <a:t>• Instant Intervention (&lt; 50ms): Scans in real time before user can tap, stopping financial fraud instantly.</a:t>
            </a:r>
          </a:p>
          <a:p>
            <a:pPr>
              <a:defRPr sz="1100">
                <a:solidFill>
                  <a:srgbClr val="A7F3D0"/>
                </a:solidFill>
                <a:latin typeface="Segoe UI"/>
              </a:defRPr>
            </a:pPr>
            <a:r>
              <a:t>• Autonomous Offline Defense: Full protection in airplane mode, rural zones, and zero-network conditions.</a:t>
            </a:r>
          </a:p>
          <a:p>
            <a:pPr>
              <a:defRPr sz="1100">
                <a:solidFill>
                  <a:srgbClr val="A7F3D0"/>
                </a:solidFill>
                <a:latin typeface="Segoe UI"/>
              </a:defRPr>
            </a:pPr>
            <a:r>
              <a:t>• Zero Infrastructure Cost: Operates directly on device CPU/NPU without cloud server dependencies.</a:t>
            </a:r>
          </a:p>
          <a:p>
            <a:pPr>
              <a:defRPr sz="1100">
                <a:solidFill>
                  <a:srgbClr val="A7F3D0"/>
                </a:solidFill>
                <a:latin typeface="Segoe UI"/>
              </a:defRPr>
            </a:pPr>
            <a:r>
              <a:t>• Regulatory Compliance: Strictly adheres to India's DPDP Act 2023 and global GDPR privacy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6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End-to-End System Architecture &amp; Threat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60320" cy="3291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  <a:latin typeface="Segoe UI Semibold"/>
              </a:defRPr>
            </a:pPr>
            <a:r>
              <a:t>STAGE 01: Ingestion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Local Event Ingestion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SMS Receiver hook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Notification Listener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Clipboard URL monitor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APK package intent 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560320" cy="3291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STAGE 02: Extraction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Feature Extraction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Lexical entropy analysis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Urgency token parser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Domain similarity index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Manifest permissions tree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60320" cy="3291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  <a:latin typeface="Segoe UI Semibold"/>
              </a:defRPr>
            </a:pPr>
            <a:r>
              <a:t>STAGE 03: Local AI Core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On-Device Inference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Quantized TinyBERT model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Local Bloom filter lookup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SQLite heuristic rules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Static APK trojan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3291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 Semibold"/>
              </a:defRPr>
            </a:pPr>
            <a:r>
              <a:t>STAGE 04: Shield Action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Real-Time Defense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Heads-up warning banner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Calculated Risk Score (0-100)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One-tap malicious link block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Installation prevention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0FF"/>
                </a:solidFill>
                <a:latin typeface="Segoe UI Semibold"/>
              </a:defRPr>
            </a:pPr>
            <a:r>
              <a:t>ARCHITECTURE HIGHLIGHT: Sub-50ms Execution Loop with Zero Network Latency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By executing INT8 quantized neural inferences locally via TensorFlow Lite C++ bindings, the system evaluates incoming SMS and notification triggers instantaneously without stalling the Android main UI thread.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7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Core Engine 1: On-Device TinyBERT NLP Threat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F0FF"/>
                </a:solidFill>
                <a:latin typeface="Segoe UI Semibold"/>
              </a:defRPr>
            </a:pPr>
            <a:r>
              <a:t>TINYBERT QUANTIZATION &amp; NLP PIPELINE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Edge Model Architecture: Distilled 4-layer Transformer architecture trained specifically on Indian smishing, bank scam, and urgency social engineering datasets.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INT8 Quantization (TFLite): Weights compressed from 32-bit floating point to 8-bit integers, shrinking model size from 260MB down to just 14.8MB with negligible loss in accuracy.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Inference Acceleration: Runs directly on mobile Neural Processing Units (NPU) or Snapdragon/MediaTek multi-core CPUs via XNNPACK delegate.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Latency Benchmark: Average on-device inference executes in 32 milliseconds—substantially faster than 4G/5G roundtrip network transit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 Semibold"/>
              </a:defRPr>
            </a:pPr>
            <a:r>
              <a:t>DETECTED SOCIAL ENGINEERING CUES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Urgency &amp; Fear Induction: Flags keywords: 'immediate disconnection', 'account blocked today', 'legal notice within 2 hours', 'penalty fee'.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Financial &amp; Reward Baiting: Detects fraudulent claims: 'unclaimed lottery ₹25,00,000', 'electricity rebate approved', 'instant personal loan no KYC'.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Credential &amp; OTP Harvesting: Pinpoints deceptive calls to action requesting OTP entry, UPI PIN verification, or net-banking login links.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Confidence &amp; Risk Scoring: Outputs a normalized Threat Probability Score (0.0 to 1.0) passed to the unified mitigation engine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8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Core Engine 2: Offline Heuristic URL &amp; Phishing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 Semibold"/>
              </a:defRPr>
            </a:pPr>
            <a:r>
              <a:t>LEXICAL ANALYSIS &amp; DOMAIN HEURISTICS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Typosquatting &amp; Homoglyphs: Identifies lookalike banking domains using Levenshtein distance (e.g. 'sbl-online.xyz' vs genuine 'onlinesbi.sbi').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Shannon Entropy Scoring: Calculates domain name randomness to detect algorithmically generated domains (DGA) used by botnets.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Suspicious Subdomain Depth: Flags excessive subdomains frequently used to mask deceptive hostnames (e.g., 'sbi.bank.account-update.fake-pay.in').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High-Risk TLD &amp; Raw IP Filter: Immediate red-flag for deceptive top-level domains (.xyz, .top, .live) and unmasked numerical IP redirects.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F0FF"/>
                </a:solidFill>
                <a:latin typeface="Segoe UI Semibold"/>
              </a:defRPr>
            </a:pPr>
            <a:r>
              <a:t>COMPRESSED BLOOM FILTER &amp; LOCAL DB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O(1) Ultra-Fast Lookup: A compressed 1.8MB Bloom filter preloaded with 100,000+ legitimate Indian banks, telecom, and government portal domains.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 Cloud Queries: Verification completes entirely in device RAM within 2 milliseconds without contacting external DNS or threat intelligence servers.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Encrypted Local SQLite DB: Stores locally discovered fraudulent signatures and user-defined whitelists with AES-256 local database encryption.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Periodic Delta Rule Sync: When internet is safely available, receives small delta updates (&lt;50KB) over encrypted OTA without uploading user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9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Core Engine 3: Static APK Security &amp; Trojan Auditor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43F5E"/>
                </a:solidFill>
                <a:latin typeface="Segoe UI Semibold"/>
              </a:defRPr>
            </a:pPr>
            <a:r>
              <a:t>STATIC APK MANIFEST PARSER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Pre-Installation Interception: Hooks into Android PackageInstaller intent to inspect AndroidManifest.xml before the APK is granted runtime execution.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Dangerous Privilege Combinations: Detects high-risk combinations: BIND_ACCESSIBILITY_SERVICE + RECEIVE_SMS + READ_PHONE_STATE.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Overlay Hijacking Defense: Flags applications requesting SYSTEM_ALERT_WINDOW that render transparent phishing overlays over genuine banking apps.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Signature &amp; Cert Verification: Checks developer signing certificates against known malware hashes and sideloaded repackaged clone signatures.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 Semibold"/>
              </a:defRPr>
            </a:pPr>
            <a:r>
              <a:t>ACCESSIBILITY &amp; KEYLOGGER MITIGATION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Silent Keystroke Logging: Trojan utility apps trick users into enabling accessibility to read screen texts, OTPs, and passwords silently.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Heuristic Threat Scoring: If an untrusted sideloaded app requests Accessibility + SMS Read, its Threat Score immediately escalates to 95/100.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Proactive Installation Gate: Renders an unignorable red security overlay warning: 'High Risk Trojan Detected. Block Installation.'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One-Tap Safe Removal: Directs user to instantly delete the temporary APK file from storage before installation completes.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10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User Experience, Alerts &amp; Proactive Shield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  <a:latin typeface="Segoe UI Semibold"/>
              </a:defRPr>
            </a:pPr>
            <a:r>
              <a:t>STEP 01: Passive Guard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Background Monitoring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Silent background listener hooks into SMS and clipboard events.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Zero intrusive popups during everyday normal usage.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Zero CPU wakeup when safe messages are received.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STEP 02: Real-Time Scan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Instant Evaluation (&lt;50ms)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TinyBERT and Heuristic URL parser evaluate trigger in parallel.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Threat Risk Score (0 to 100) calculated on device.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Threshold breach triggers immediate intervention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  <a:latin typeface="Segoe UI Semibold"/>
              </a:defRPr>
            </a:pPr>
            <a:r>
              <a:t>STEP 03: Heads-Up HUD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Non-Intrusive Safety Alert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Clear color-coded threat alert: 🟡 Warning vs 🔴 Severe Risk.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Explains risk in simple plain English / Hindi.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Shows exact threat reason: 'Fake Banking Link Detected'.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 Semibold"/>
              </a:defRPr>
            </a:pPr>
            <a:r>
              <a:t>STEP 04: One-Tap Action</a:t>
            </a:r>
          </a:p>
          <a:p>
            <a:pPr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Click &amp; Install Neutralizer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Provides 1-Tap 'Block &amp; Delete Link' action button.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Neutralizes clipboard redirect automatically.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Protects user without requiring technical expertise.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11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Technology Stack &amp; Engineering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Segoe UI Semibold"/>
              </a:defRPr>
            </a:pPr>
            <a:r>
              <a:t>Machine Learning &amp; Edge AI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TensorFlow Lite (INT8 Quantization)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MobileBERT / TinyBERT Architecture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ONNX Runtime Mobile (Android C++ API)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Tokenizers &amp; Vocabulary Compression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 Semibold"/>
              </a:defRPr>
            </a:pPr>
            <a:r>
              <a:t>Android Native Engineering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Kotlin &amp; Java Android Jetpack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AccessibilityService API Integration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BroadcastReceiver (SMS &amp; Package Hook)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Room Database (Offline Encrypted 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Segoe UI Semibold"/>
              </a:defRPr>
            </a:pPr>
            <a:r>
              <a:t>Security &amp; Heuristics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Bloom Filters (Zero-Lookup Domain Set)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Levenshtein Distance Domain Analyzer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APK Parser (Static Manifest Extractor)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Cryptographic SHA-256 Signature 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Segoe UI Semibold"/>
              </a:defRPr>
            </a:pPr>
            <a:r>
              <a:t>Profiling &amp; Performance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Android WorkManager (Low Battery Hook)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Multi-threaded Background Dispatchers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&lt; 2% Battery Overhead Profiled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 Main-Thread Latency (&lt;50ms)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12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Performance Benchmarks &amp; Empirical Test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0B981"/>
                </a:solidFill>
                <a:latin typeface="Segoe UI Semibold"/>
              </a:defRPr>
            </a:pPr>
            <a:r>
              <a:t>&lt; 50 ms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Average Reaction Time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Local inference executes in 32ms. Entire pipeline completes in &lt;50ms before user can tap a deceptive link.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F0FF"/>
                </a:solidFill>
                <a:latin typeface="Segoe UI Semibold"/>
              </a:defRPr>
            </a:pPr>
            <a:r>
              <a:t>96.4%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Threat Detection Precision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Tested across 15,000+ Indian smishing SMS and banking phishing URLs with false positive rate &lt; 1.2%.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A855F7"/>
                </a:solidFill>
                <a:latin typeface="Segoe UI Semibold"/>
              </a:defRPr>
            </a:pPr>
            <a:r>
              <a:t>14.8 MB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Quantized Model Footprint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INT8 quantized neural model consumes minimal storage, fitting comfortably on budget smartphones.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59E0B"/>
                </a:solidFill>
                <a:latin typeface="Segoe UI Semibold"/>
              </a:defRPr>
            </a:pPr>
            <a:r>
              <a:t>&lt; 2%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Daily Battery Consumption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Profiled via Android Battery Historian. Wakes CPU only during incoming events (&lt;0.5 sec active duty cycle).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13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Privacy Guarantee &amp; Regulatory Compliance (DPDP Act)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 Semibold"/>
              </a:defRPr>
            </a:pPr>
            <a:r>
              <a:t>🛡️ Zero Telemetry Architecture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No user messages, contact numbers, browsing history, or location coordinates are ever transmitted to any external server. 100% data residency on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Segoe UI Semibold"/>
              </a:defRPr>
            </a:pPr>
            <a:r>
              <a:t>🇮🇳 India DPDP Act 2023 Compliance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Strictly adheres to India's Digital Personal Data Protection Act 2023 by eliminating third-party cloud data processing and unauthorized personal data sharing.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A855F7"/>
                </a:solidFill>
                <a:latin typeface="Segoe UI Semibold"/>
              </a:defRPr>
            </a:pPr>
            <a:r>
              <a:t>🌍 Global GDPR Privacy Alignment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Complies with strict European GDPR standards (Articles 5 &amp; 25 - Privacy by Design and by Default). Zero user tracking or profiling.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79"/>
            <a:ext cx="5257800" cy="214884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Segoe UI Semibold"/>
              </a:defRPr>
            </a:pPr>
            <a:r>
              <a:t>🔐 Hardware-Backed Encryption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All local heuristic rule updates and whitelists are stored in an encrypted local database using Android Keystore and AES-GCM 256-bit encryption.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14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Target Audience, Use Cases &amp; Social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F0FF"/>
                </a:solidFill>
                <a:latin typeface="Segoe UI Semibold"/>
              </a:defRPr>
            </a:pPr>
            <a:r>
              <a:t>TARGET AUDIENCE &amp; VULNERABLE CITIZENS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Senior Citizens &amp; Non-Tech Users: Frequently tricked by fake electricity bill, pension verification, or bank KYC expiry messages.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Rural &amp; Tier-2/3 Smartphone Users: Face intermittent internet connectivity where traditional cloud antiviruses fail to respond.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Active UPI &amp; Mobile Banking Users: Over 400M+ Indians transacting daily on Google Pay, PhonePe, Paytm who need instant click-level protection.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Students &amp; First-time Device Owners: Vulnerable to fraudulent job offers, exam schemes, and sideloaded trojan APKs.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 Semibold"/>
              </a:defRPr>
            </a:pPr>
            <a:r>
              <a:t>REAL-WORLD PROTECTION SCENARIOS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Scenario 1: Electricity Bill Smishing: User receives SMS: 'Your power cuts tonight at 9:30 PM. Pay via link.' Engine intercepts, analyzes urgency, and flashes an immediate red threat banner in &lt; 40ms.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Scenario 2: Malicious WhatsApp APK: User downloads 'Bank-Rewards-Update.apk'. Before installation completes, static auditor flags abuse of Accessibility Service and prevents installation.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Scenario 3: Fake UPI Payment Link: User taps a link claiming a ₹2,000 lottery refund. Offline heuristic scanner identifies domain typosquatting and blocks redirect before UPI app opens.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15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Project Evolution &amp; Future Strategic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PHASE 1 (Current Prototype)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Edge Core Foundation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On-device TinyBERT SMS urgency detection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Offline heuristic URL &amp; typosquatting engine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Static APK permissions &amp; trojan auditor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Sub-50ms Heads-up notification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2900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  <a:latin typeface="Segoe UI Semibold"/>
              </a:defRPr>
            </a:pPr>
            <a:r>
              <a:t>PHASE 2 (Near-Term Evolution)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Multi-Lingual &amp; Voice Shield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Indic language support (Hindi, Gujarati, Marathi)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On-device scam call intent speech recognition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Automated encrypted threat rule OTA sync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Customizable user strictness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37360"/>
            <a:ext cx="3429000" cy="4572000"/>
          </a:xfrm>
          <a:prstGeom prst="roundRect">
            <a:avLst/>
          </a:prstGeom>
          <a:solidFill>
            <a:srgbClr val="121B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PHASE 3 (Long-Term Scalability)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Ecosystem Expansion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Enterprise SDK for banking &amp; fintech apps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Cross-platform iOS Swift on-device port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Integration with NPCI / Cyber Crime Cell alerts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Device-to-device federated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5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Segoe UI Semibold"/>
              </a:defRPr>
            </a:pPr>
            <a:r>
              <a:t>CODE CARNIVAL 3.0 • ADSC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PS-05 ON-DEVICE THREAT, PHISHING &amp; SCAM DETECTION  |  SLIDE 16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| X8Y9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Team Credentials, Conclusion &amp;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9997135" cy="4480560"/>
          </a:xfrm>
          <a:prstGeom prst="roundRect">
            <a:avLst/>
          </a:prstGeom>
          <a:solidFill>
            <a:srgbClr val="0E162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SECURING DIGITAL INDIA — DIRECTLY ON DEVICE</a:t>
            </a:r>
          </a:p>
          <a:p>
            <a:pPr algn="ctr">
              <a:defRPr sz="1500">
                <a:solidFill>
                  <a:srgbClr val="10B981"/>
                </a:solidFill>
                <a:latin typeface="Segoe UI"/>
              </a:defRPr>
            </a:pPr>
            <a:r>
              <a:t>Next-Generation Proactive Defense Against Phishing, Smishing &amp; Scams</a:t>
            </a:r>
          </a:p>
          <a:p>
            <a:pPr algn="ctr">
              <a:defRPr>
                <a:solidFill>
                  <a:srgbClr val="263758"/>
                </a:solidFill>
              </a:defRPr>
            </a:pPr>
            <a:r>
              <a:t>--------------------------------------------------------------------------------------------------</a:t>
            </a:r>
          </a:p>
          <a:p>
            <a:pPr algn="ctr">
              <a:defRPr sz="2000" b="1">
                <a:solidFill>
                  <a:srgbClr val="F43F5E"/>
                </a:solidFill>
                <a:latin typeface="Segoe UI Semibold"/>
              </a:defRPr>
            </a:pPr>
            <a:r>
              <a:t>TEAM: CREATIVE CRIMINALS   •   TEAM ID: X8Y9</a:t>
            </a:r>
          </a:p>
          <a:p>
            <a:pPr algn="ctr"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👑 Hirva Chaniyara (Leader)   •   Vishvrajsinh Sisodiya   •   Sujal Bendkar   •   Agravat Kevin</a:t>
            </a:r>
          </a:p>
          <a:p>
            <a:pPr algn="ctr">
              <a:defRPr sz="1300">
                <a:solidFill>
                  <a:srgbClr val="00F0FF"/>
                </a:solidFill>
                <a:latin typeface="Segoe UI"/>
              </a:defRPr>
            </a:pPr>
            <a:r>
              <a:t>Code Carnival 3.0  •  Problem Statement PS-05 (PS-5)  •  ADSC Atmiya University</a:t>
            </a:r>
          </a:p>
          <a:p>
            <a:br/>
            <a:pPr algn="ctr">
              <a:defRPr sz="2200" b="1">
                <a:solidFill>
                  <a:srgbClr val="F59E0B"/>
                </a:solidFill>
                <a:latin typeface="Segoe UI Semibold"/>
              </a:defRPr>
            </a:pPr>
            <a:r>
              <a:t>Thank you, Esteemed Judges &amp; Evaluators!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