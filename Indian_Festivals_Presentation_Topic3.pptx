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Speaker Notes:</a:t>
            </a:r>
          </a:p>
          <a:p>
            <a:r>
              <a:t>Welcome everyone. Today we are presenting an AI-generated multimedia exploration into why festivals in India are central to building social cohesion and family unity. Using generative AI tools, we explore the visual, acoustic, and cultural dimensions of these vibrant celebrations.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Speaker Notes:</a:t>
            </a:r>
          </a:p>
          <a:p>
            <a:r>
              <a:t>Here we showcase the exact multimedia generated for Topic 2. The 10-second clip was created by combining photorealistic AI visual generation with Azure Neural Text-to-Speech tuned to an expressive Indian English dialect. The script is concisely crafted at 18 words to deliver high impact within the 10-second window.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Speaker Notes:</a:t>
            </a:r>
          </a:p>
          <a:p>
            <a:r>
              <a:t>In our final slide, we analyze the sociological importance of these festivals. First, intergenerational bonding: reuniting families dispersed by urbanization. Second, communal kitchens and shared feasting, which dismantle barriers. And third, public street solidarity, which transforms individual neighborhoods into a unified collective.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dian_festivals_community_1790086409891.jpg"/>
          <p:cNvPicPr>
            <a:picLocks noChangeAspect="1"/>
          </p:cNvPicPr>
          <p:nvPr/>
        </p:nvPicPr>
        <p:blipFill>
          <a:blip r:embed="rId2"/>
          <a:stretch>
            <a:fillRect/>
          </a:stretch>
        </p:blipFill>
        <p:spPr>
          <a:xfrm>
            <a:off x="6217920" y="731520"/>
            <a:ext cx="5303520" cy="5394960"/>
          </a:xfrm>
          <a:prstGeom prst="rect">
            <a:avLst/>
          </a:prstGeom>
        </p:spPr>
      </p:pic>
      <p:sp>
        <p:nvSpPr>
          <p:cNvPr id="4" name="Rectangle 3"/>
          <p:cNvSpPr/>
          <p:nvPr/>
        </p:nvSpPr>
        <p:spPr>
          <a:xfrm>
            <a:off x="6217920" y="731520"/>
            <a:ext cx="5303520" cy="5394960"/>
          </a:xfrm>
          <a:prstGeom prst="rect">
            <a:avLst/>
          </a:prstGeom>
          <a:noFill/>
          <a:ln w="254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914400"/>
            <a:ext cx="4114800" cy="411480"/>
          </a:xfrm>
          <a:prstGeom prst="roundRect">
            <a:avLst/>
          </a:prstGeom>
          <a:solidFill>
            <a:srgbClr val="E69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C0F17"/>
                </a:solidFill>
              </a:defRPr>
            </a:pPr>
            <a:r>
              <a:t>AI PRESENTATION TOOLS • TOPIC 3</a:t>
            </a:r>
          </a:p>
        </p:txBody>
      </p:sp>
      <p:sp>
        <p:nvSpPr>
          <p:cNvPr id="6" name="TextBox 5"/>
          <p:cNvSpPr txBox="1"/>
          <p:nvPr/>
        </p:nvSpPr>
        <p:spPr>
          <a:xfrm>
            <a:off x="731520" y="1554480"/>
            <a:ext cx="5120640" cy="2011680"/>
          </a:xfrm>
          <a:prstGeom prst="rect">
            <a:avLst/>
          </a:prstGeom>
          <a:noFill/>
        </p:spPr>
        <p:txBody>
          <a:bodyPr wrap="square">
            <a:spAutoFit/>
          </a:bodyPr>
          <a:lstStyle/>
          <a:p>
            <a:pPr>
              <a:defRPr sz="3600" b="1">
                <a:solidFill>
                  <a:srgbClr val="FFFFFF"/>
                </a:solidFill>
              </a:defRPr>
            </a:pPr>
            <a:r>
              <a:t>The Heartbeat of Togetherness</a:t>
            </a:r>
          </a:p>
          <a:p>
            <a:pPr>
              <a:spcBef>
                <a:spcPts val="800"/>
              </a:spcBef>
              <a:defRPr sz="2000">
                <a:solidFill>
                  <a:srgbClr val="E69527"/>
                </a:solidFill>
              </a:defRPr>
            </a:pPr>
            <a:r>
              <a:t>How Indian Festivals Unite Families &amp; Communities</a:t>
            </a:r>
          </a:p>
        </p:txBody>
      </p:sp>
      <p:sp>
        <p:nvSpPr>
          <p:cNvPr id="7" name="TextBox 6"/>
          <p:cNvSpPr txBox="1"/>
          <p:nvPr/>
        </p:nvSpPr>
        <p:spPr>
          <a:xfrm>
            <a:off x="731520" y="3657600"/>
            <a:ext cx="5029200" cy="2377440"/>
          </a:xfrm>
          <a:prstGeom prst="rect">
            <a:avLst/>
          </a:prstGeom>
          <a:noFill/>
        </p:spPr>
        <p:txBody>
          <a:bodyPr wrap="square">
            <a:spAutoFit/>
          </a:bodyPr>
          <a:lstStyle/>
          <a:p>
            <a:pPr>
              <a:defRPr sz="1400">
                <a:solidFill>
                  <a:srgbClr val="DCCDCD"/>
                </a:solidFill>
              </a:defRPr>
            </a:pPr>
            <a:r>
              <a:t>Festivals in India transcend simple calendar holidays. They serve as a powerful cultural catalyst—bridging generational gaps, reviving ancestral ties, and turning diverse neighborhoods into tightly-knit families through shared feasts, rituals, and collective joy.</a:t>
            </a:r>
          </a:p>
          <a:p>
            <a:pPr>
              <a:spcBef>
                <a:spcPts val="1400"/>
              </a:spcBef>
              <a:defRPr sz="1200" i="1">
                <a:solidFill>
                  <a:srgbClr val="E69527"/>
                </a:solidFill>
              </a:defRPr>
            </a:pPr>
            <a:r>
              <a:t>Curated AI Multimedia Deck | 10-Second Introductory Showcase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2800" b="1">
                <a:solidFill>
                  <a:srgbClr val="FFFFFF"/>
                </a:solidFill>
              </a:defRPr>
            </a:pPr>
            <a:r>
              <a:t>AI Video &amp; Audio Generation Showcase</a:t>
            </a:r>
          </a:p>
          <a:p>
            <a:pPr>
              <a:defRPr sz="1400">
                <a:solidFill>
                  <a:srgbClr val="E69527"/>
                </a:solidFill>
              </a:defRPr>
            </a:pPr>
            <a:r>
              <a:t>Topic 2 Deliverable: 10-Second Introductory Multimedia Clip &amp; Neural Voiceovers</a:t>
            </a:r>
          </a:p>
        </p:txBody>
      </p:sp>
      <p:sp>
        <p:nvSpPr>
          <p:cNvPr id="4" name="Rounded Rectangle 3"/>
          <p:cNvSpPr/>
          <p:nvPr/>
        </p:nvSpPr>
        <p:spPr>
          <a:xfrm>
            <a:off x="731520" y="1645920"/>
            <a:ext cx="5212080" cy="4480560"/>
          </a:xfrm>
          <a:prstGeom prst="roundRect">
            <a:avLst/>
          </a:prstGeom>
          <a:solidFill>
            <a:srgbClr val="3A161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69527"/>
                </a:solidFill>
              </a:defRPr>
            </a:pPr>
            <a:r>
              <a:t>10-SECOND INTRODUCTORY SCRIPT</a:t>
            </a:r>
          </a:p>
          <a:p>
            <a:pPr>
              <a:spcBef>
                <a:spcPts val="1200"/>
              </a:spcBef>
              <a:defRPr sz="1600" i="1">
                <a:solidFill>
                  <a:srgbClr val="FFFFFF"/>
                </a:solidFill>
              </a:defRPr>
            </a:pPr>
            <a:r>
              <a:t>“Across India, festivals bring families together across generations, uniting neighborhoods and communities in shared love, light, and celebration.”</a:t>
            </a:r>
          </a:p>
          <a:p>
            <a:pPr>
              <a:spcBef>
                <a:spcPts val="1600"/>
              </a:spcBef>
              <a:defRPr sz="1300" b="1">
                <a:solidFill>
                  <a:srgbClr val="E69527"/>
                </a:solidFill>
              </a:defRPr>
            </a:pPr>
            <a:r>
              <a:t>Narration Specs:</a:t>
            </a:r>
          </a:p>
          <a:p>
            <a:pPr>
              <a:spcBef>
                <a:spcPts val="400"/>
              </a:spcBef>
              <a:defRPr sz="1200">
                <a:solidFill>
                  <a:srgbClr val="DCCDCD"/>
                </a:solidFill>
              </a:defRPr>
            </a:pPr>
            <a:r>
              <a:t>• Exact Runtime: 10.27 Seconds (18 words at 1.8 wps)</a:t>
            </a:r>
          </a:p>
          <a:p>
            <a:pPr>
              <a:spcBef>
                <a:spcPts val="400"/>
              </a:spcBef>
              <a:defRPr sz="1200">
                <a:solidFill>
                  <a:srgbClr val="DCCDCD"/>
                </a:solidFill>
              </a:defRPr>
            </a:pPr>
            <a:r>
              <a:t>• Voice Model 1: Azure Neural Neerja (Expressive Indian English)</a:t>
            </a:r>
          </a:p>
          <a:p>
            <a:pPr>
              <a:spcBef>
                <a:spcPts val="400"/>
              </a:spcBef>
              <a:defRPr sz="1200">
                <a:solidFill>
                  <a:srgbClr val="DCCDCD"/>
                </a:solidFill>
              </a:defRPr>
            </a:pPr>
            <a:r>
              <a:t>• Voice Model 2: Azure Neural Prabhat (Dignified Narrative)</a:t>
            </a:r>
          </a:p>
          <a:p>
            <a:pPr>
              <a:spcBef>
                <a:spcPts val="400"/>
              </a:spcBef>
              <a:defRPr sz="1200">
                <a:solidFill>
                  <a:srgbClr val="DCCDCD"/>
                </a:solidFill>
              </a:defRPr>
            </a:pPr>
            <a:r>
              <a:t>• Resolution: 1080p Full HD • 30 FPS • H.264/AAC</a:t>
            </a:r>
          </a:p>
        </p:txBody>
      </p:sp>
      <p:sp>
        <p:nvSpPr>
          <p:cNvPr id="5" name="Rounded Rectangle 4"/>
          <p:cNvSpPr/>
          <p:nvPr/>
        </p:nvSpPr>
        <p:spPr>
          <a:xfrm>
            <a:off x="6217920" y="1645920"/>
            <a:ext cx="5212080" cy="4480560"/>
          </a:xfrm>
          <a:prstGeom prst="roundRect">
            <a:avLst/>
          </a:prstGeom>
          <a:solidFill>
            <a:srgbClr val="3A161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ndian_festivals_community_1790086409891.jpg"/>
          <p:cNvPicPr>
            <a:picLocks noChangeAspect="1"/>
          </p:cNvPicPr>
          <p:nvPr/>
        </p:nvPicPr>
        <p:blipFill>
          <a:blip r:embed="rId2"/>
          <a:stretch>
            <a:fillRect/>
          </a:stretch>
        </p:blipFill>
        <p:spPr>
          <a:xfrm>
            <a:off x="6492240" y="1828800"/>
            <a:ext cx="4663440" cy="2194560"/>
          </a:xfrm>
          <a:prstGeom prst="rect">
            <a:avLst/>
          </a:prstGeom>
        </p:spPr>
      </p:pic>
      <p:sp>
        <p:nvSpPr>
          <p:cNvPr id="7" name="TextBox 6"/>
          <p:cNvSpPr txBox="1"/>
          <p:nvPr/>
        </p:nvSpPr>
        <p:spPr>
          <a:xfrm>
            <a:off x="6492240" y="4114800"/>
            <a:ext cx="4663440" cy="1828800"/>
          </a:xfrm>
          <a:prstGeom prst="rect">
            <a:avLst/>
          </a:prstGeom>
          <a:noFill/>
        </p:spPr>
        <p:txBody>
          <a:bodyPr wrap="square">
            <a:spAutoFit/>
          </a:bodyPr>
          <a:lstStyle/>
          <a:p>
            <a:pPr>
              <a:defRPr sz="1300" b="1">
                <a:solidFill>
                  <a:srgbClr val="E69527"/>
                </a:solidFill>
              </a:defRPr>
            </a:pPr>
            <a:r>
              <a:t>Generated Media Links &amp; Access:</a:t>
            </a:r>
          </a:p>
          <a:p>
            <a:pPr>
              <a:spcBef>
                <a:spcPts val="300"/>
              </a:spcBef>
              <a:defRPr sz="1100">
                <a:solidFill>
                  <a:srgbClr val="FFFFFF"/>
                </a:solidFill>
              </a:defRPr>
            </a:pPr>
            <a:r>
              <a:t>▶ Interactive Video Player: festival_video_preview.html (Browser player with live subtitles)</a:t>
            </a:r>
          </a:p>
          <a:p>
            <a:pPr>
              <a:spcBef>
                <a:spcPts val="300"/>
              </a:spcBef>
              <a:defRPr sz="1100">
                <a:solidFill>
                  <a:srgbClr val="FFFFFF"/>
                </a:solidFill>
              </a:defRPr>
            </a:pPr>
            <a:r>
              <a:t>🎬 10-Second Video Clip: indian_festivals_intro_10s.mp4 (Full HD MP4)</a:t>
            </a:r>
          </a:p>
          <a:p>
            <a:pPr>
              <a:spcBef>
                <a:spcPts val="300"/>
              </a:spcBef>
              <a:defRPr sz="1100">
                <a:solidFill>
                  <a:srgbClr val="FFFFFF"/>
                </a:solidFill>
              </a:defRPr>
            </a:pPr>
            <a:r>
              <a:t>🎙 AI Voiceover (Female): indian_festivals_voiceover_female.mp3</a:t>
            </a:r>
          </a:p>
          <a:p>
            <a:pPr>
              <a:spcBef>
                <a:spcPts val="300"/>
              </a:spcBef>
              <a:defRPr sz="1100">
                <a:solidFill>
                  <a:srgbClr val="FFFFFF"/>
                </a:solidFill>
              </a:defRPr>
            </a:pPr>
            <a:r>
              <a:t>🎙 AI Voiceover (Male): indian_festivals_voiceover_male.mp3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2800" b="1">
                <a:solidFill>
                  <a:srgbClr val="FFFFFF"/>
                </a:solidFill>
              </a:defRPr>
            </a:pPr>
            <a:r>
              <a:t>Why Indian Festivals Unify Families &amp; Society</a:t>
            </a:r>
          </a:p>
          <a:p>
            <a:pPr>
              <a:defRPr sz="1400">
                <a:solidFill>
                  <a:srgbClr val="E69527"/>
                </a:solidFill>
              </a:defRPr>
            </a:pPr>
            <a:r>
              <a:t>Three Core Cultural Pillars of Collective Belonging and Harmony</a:t>
            </a:r>
          </a:p>
        </p:txBody>
      </p:sp>
      <p:sp>
        <p:nvSpPr>
          <p:cNvPr id="4" name="Rounded Rectangle 3"/>
          <p:cNvSpPr/>
          <p:nvPr/>
        </p:nvSpPr>
        <p:spPr>
          <a:xfrm>
            <a:off x="731520" y="1645920"/>
            <a:ext cx="3383280" cy="4480560"/>
          </a:xfrm>
          <a:prstGeom prst="roundRect">
            <a:avLst/>
          </a:prstGeom>
          <a:solidFill>
            <a:srgbClr val="3A161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69527"/>
                </a:solidFill>
              </a:defRPr>
            </a:pPr>
            <a:r>
              <a:t>1. Intergenerational Gathering</a:t>
            </a:r>
          </a:p>
          <a:p>
            <a:pPr>
              <a:spcBef>
                <a:spcPts val="400"/>
              </a:spcBef>
              <a:defRPr sz="1200" i="1">
                <a:solidFill>
                  <a:srgbClr val="FFFFFF"/>
                </a:solidFill>
              </a:defRPr>
            </a:pPr>
            <a:r>
              <a:t>Reconnecting Across Distances</a:t>
            </a:r>
          </a:p>
          <a:p>
            <a:pPr>
              <a:spcBef>
                <a:spcPts val="1400"/>
              </a:spcBef>
              <a:defRPr sz="1200">
                <a:solidFill>
                  <a:srgbClr val="DCCDCD"/>
                </a:solidFill>
              </a:defRPr>
            </a:pPr>
            <a:r>
              <a:t>In modern India, career and education scatter families across cities. Festivals like Diwali, Eid, and Pongal act as an unbreakable calendar anchor, drawing children, parents, and grandparents back to ancestral homes for shared rituals.</a:t>
            </a:r>
          </a:p>
        </p:txBody>
      </p:sp>
      <p:sp>
        <p:nvSpPr>
          <p:cNvPr id="5" name="Rounded Rectangle 4"/>
          <p:cNvSpPr/>
          <p:nvPr/>
        </p:nvSpPr>
        <p:spPr>
          <a:xfrm>
            <a:off x="4389120" y="1645920"/>
            <a:ext cx="3383280" cy="4480560"/>
          </a:xfrm>
          <a:prstGeom prst="roundRect">
            <a:avLst/>
          </a:prstGeom>
          <a:solidFill>
            <a:srgbClr val="3A161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69527"/>
                </a:solidFill>
              </a:defRPr>
            </a:pPr>
            <a:r>
              <a:t>2. Shared Feasting &amp; Preparation</a:t>
            </a:r>
          </a:p>
          <a:p>
            <a:pPr>
              <a:spcBef>
                <a:spcPts val="400"/>
              </a:spcBef>
              <a:defRPr sz="1200" i="1">
                <a:solidFill>
                  <a:srgbClr val="FFFFFF"/>
                </a:solidFill>
              </a:defRPr>
            </a:pPr>
            <a:r>
              <a:t>Kitchens Without Boundaries</a:t>
            </a:r>
          </a:p>
          <a:p>
            <a:pPr>
              <a:spcBef>
                <a:spcPts val="1400"/>
              </a:spcBef>
              <a:defRPr sz="1200">
                <a:solidFill>
                  <a:srgbClr val="DCCDCD"/>
                </a:solidFill>
              </a:defRPr>
            </a:pPr>
            <a:r>
              <a:t>The multi-day preparation of sweets (mithai, sewaiyan, modaks) and community langars turns cooking into a collaborative act. Sharing food across doorsteps dissolves socio-economic divides into neighborly warmth.</a:t>
            </a:r>
          </a:p>
        </p:txBody>
      </p:sp>
      <p:sp>
        <p:nvSpPr>
          <p:cNvPr id="6" name="Rounded Rectangle 5"/>
          <p:cNvSpPr/>
          <p:nvPr/>
        </p:nvSpPr>
        <p:spPr>
          <a:xfrm>
            <a:off x="8046720" y="1645920"/>
            <a:ext cx="3383280" cy="4480560"/>
          </a:xfrm>
          <a:prstGeom prst="roundRect">
            <a:avLst/>
          </a:prstGeom>
          <a:solidFill>
            <a:srgbClr val="3A161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69527"/>
                </a:solidFill>
              </a:defRPr>
            </a:pPr>
            <a:r>
              <a:t>3. Collective Street Solidarity</a:t>
            </a:r>
          </a:p>
          <a:p>
            <a:pPr>
              <a:spcBef>
                <a:spcPts val="400"/>
              </a:spcBef>
              <a:defRPr sz="1200" i="1">
                <a:solidFill>
                  <a:srgbClr val="FFFFFF"/>
                </a:solidFill>
              </a:defRPr>
            </a:pPr>
            <a:r>
              <a:t>Public Spaces as One Family</a:t>
            </a:r>
          </a:p>
          <a:p>
            <a:pPr>
              <a:spcBef>
                <a:spcPts val="1400"/>
              </a:spcBef>
              <a:defRPr sz="1200">
                <a:solidFill>
                  <a:srgbClr val="DCCDCD"/>
                </a:solidFill>
              </a:defRPr>
            </a:pPr>
            <a:r>
              <a:t>From vibrant Garba circles to street carnivals and illuminated alleys, private celebrations spill into shared public spaces. It offers a cultural reset button—renewing trust, forgiveness, and mutual harmony.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